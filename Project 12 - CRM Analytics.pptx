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1586" r:id="rId5"/>
    <p:sldId id="1585" r:id="rId6"/>
    <p:sldId id="1603" r:id="rId7"/>
    <p:sldId id="1608" r:id="rId8"/>
    <p:sldId id="1609" r:id="rId9"/>
    <p:sldId id="1594" r:id="rId10"/>
    <p:sldId id="1604" r:id="rId11"/>
    <p:sldId id="1605" r:id="rId12"/>
    <p:sldId id="1607" r:id="rId13"/>
    <p:sldId id="1592" r:id="rId14"/>
    <p:sldId id="1610" r:id="rId15"/>
    <p:sldId id="16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5FF"/>
    <a:srgbClr val="76D6FF"/>
    <a:srgbClr val="73FEFF"/>
    <a:srgbClr val="73FDD6"/>
    <a:srgbClr val="00FDFF"/>
    <a:srgbClr val="0096FF"/>
    <a:srgbClr val="929000"/>
    <a:srgbClr val="942093"/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9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824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E6AB8-B881-4727-81E4-8F150B795B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3BA12-00C9-4178-A6D0-60536D00E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92FFE-9A79-4B09-A370-A3F647DE624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488A2-37D8-4146-8EF6-799539FBB8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6018B-4398-42EA-A6EB-63D548F4C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A6C83-C7AE-4A16-A795-3EF5870D15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75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ADC0B-3AFF-4583-A2D6-A3E917FBC9FC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54EF9-332E-4578-9281-905F5369A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1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8C4F-9E8E-DF20-C754-3932539D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51A75-DA54-1E87-718F-BDFD79674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D7E11-1131-D0CD-19D4-36DF5FE92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FFD86-4CA7-09CA-EB3A-21B27A178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54EF9-332E-4578-9281-905F5369A44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6983-B48D-8FA7-CA77-57954A71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65529-481E-A201-FFE0-605B8D4BC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3E7CB-21B7-0D1C-F00A-B0E8468FC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5028E-B510-8BC0-8372-A6FEAA9CA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55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7417-EEA9-B66F-FF4B-719E9818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255EC-B822-B5A6-C70D-707C7E73D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B6F6C-E02D-54D4-2F6E-3D5C18410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C9102-BB2D-EEA0-0C93-DFD25E4FB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5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CAB8-52EF-166F-826F-E2B7AC28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26B41-930C-F8E4-9AC8-EE2E298B5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30B96-1911-03C6-4C90-BDFDCF00F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858AD-0FE8-AD4C-9C1A-126AB2837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47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8B33-8B9D-DEF9-4D91-9D74E239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B3ACD-4D70-DC41-3DD9-0B1AC310D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B7CA8-5EB0-E6C0-848B-C18282774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53A0-B41F-7ECF-77B0-D30005D66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507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51A1-DF13-EDC5-3188-61D4265E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B4728-96BA-13C9-7EC2-FC9562348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367C5-1E9E-669B-4A0A-9911871F4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63C60-8FC7-F46E-0C6B-B5E74D4A5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09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7505-A3B2-5FD0-1C79-A789A07C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F0F2D-D786-85DF-4896-6735360C4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7A8D8-CDE4-AA74-FA37-024048DE3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D9AC7-3484-4076-808A-1F8D2CED8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6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5063-0A8B-5E59-E664-26EC38E9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5EFCA-1891-878D-947D-6E32CD7A1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C1F5E-5549-EE1C-DC27-4062033B6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8F049-BEA0-CB38-5AC4-E6F606C66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9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BF30-2667-149E-F711-29381209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9B651-F08F-D0C2-A974-4653AB4E8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ED58E-FA9C-68F9-9309-58599877C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8C499-C0BC-D23D-1FA9-49A104761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211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611C-8505-4E11-085F-0208D261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21EA2-7746-B8EB-22E5-8EA342FC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19F42-64FF-4961-54F8-A88DCBED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9832F-3853-0C81-F970-EF3E96F0F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03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7E07-4B81-6C16-8C43-E344594E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29F6A-ABCA-13EC-9B9F-6670F90E6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09F7D-03C3-8A7D-BEA5-75123B51C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8AAB2-51C0-2563-D1B7-A7A4A749D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513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081F-EBE3-B4E0-AA19-2A80F04B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814A4-3CF3-322A-CFF2-0E10FD9FA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7C54F-9CB9-B93E-3F46-36B26AD20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E5103-8E16-EB7C-961F-55C938704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0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6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6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25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26.sv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12" Type="http://schemas.openxmlformats.org/officeDocument/2006/relationships/image" Target="../media/image25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26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25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26.sv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12" Type="http://schemas.openxmlformats.org/officeDocument/2006/relationships/image" Target="../media/image25.pn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1.png"/><Relationship Id="rId11" Type="http://schemas.openxmlformats.org/officeDocument/2006/relationships/image" Target="../media/image44.svg"/><Relationship Id="rId5" Type="http://schemas.openxmlformats.org/officeDocument/2006/relationships/image" Target="../media/image70.svg"/><Relationship Id="rId10" Type="http://schemas.openxmlformats.org/officeDocument/2006/relationships/image" Target="../media/image43.png"/><Relationship Id="rId4" Type="http://schemas.openxmlformats.org/officeDocument/2006/relationships/image" Target="../media/image69.png"/><Relationship Id="rId9" Type="http://schemas.openxmlformats.org/officeDocument/2006/relationships/image" Target="../media/image74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26.svg"/><Relationship Id="rId3" Type="http://schemas.openxmlformats.org/officeDocument/2006/relationships/image" Target="../media/image76.svg"/><Relationship Id="rId7" Type="http://schemas.openxmlformats.org/officeDocument/2006/relationships/image" Target="../media/image80.svg"/><Relationship Id="rId12" Type="http://schemas.openxmlformats.org/officeDocument/2006/relationships/image" Target="../media/image25.pn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9.png"/><Relationship Id="rId11" Type="http://schemas.openxmlformats.org/officeDocument/2006/relationships/image" Target="../media/image84.svg"/><Relationship Id="rId5" Type="http://schemas.openxmlformats.org/officeDocument/2006/relationships/image" Target="../media/image78.sv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svg"/><Relationship Id="rId3" Type="http://schemas.openxmlformats.org/officeDocument/2006/relationships/image" Target="../media/image86.svg"/><Relationship Id="rId7" Type="http://schemas.openxmlformats.org/officeDocument/2006/relationships/image" Target="../media/image90.sv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png"/><Relationship Id="rId11" Type="http://schemas.openxmlformats.org/officeDocument/2006/relationships/image" Target="../media/image94.svg"/><Relationship Id="rId5" Type="http://schemas.openxmlformats.org/officeDocument/2006/relationships/image" Target="../media/image88.sv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svg"/><Relationship Id="rId3" Type="http://schemas.openxmlformats.org/officeDocument/2006/relationships/image" Target="../media/image98.svg"/><Relationship Id="rId7" Type="http://schemas.openxmlformats.org/officeDocument/2006/relationships/image" Target="../media/image102.sv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1.png"/><Relationship Id="rId11" Type="http://schemas.openxmlformats.org/officeDocument/2006/relationships/image" Target="../media/image106.svg"/><Relationship Id="rId5" Type="http://schemas.openxmlformats.org/officeDocument/2006/relationships/image" Target="../media/image100.sv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26.svg"/><Relationship Id="rId3" Type="http://schemas.openxmlformats.org/officeDocument/2006/relationships/image" Target="../media/image110.svg"/><Relationship Id="rId7" Type="http://schemas.openxmlformats.org/officeDocument/2006/relationships/image" Target="../media/image44.svg"/><Relationship Id="rId12" Type="http://schemas.openxmlformats.org/officeDocument/2006/relationships/image" Target="../media/image25.pn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3.png"/><Relationship Id="rId11" Type="http://schemas.openxmlformats.org/officeDocument/2006/relationships/image" Target="../media/image116.svg"/><Relationship Id="rId5" Type="http://schemas.openxmlformats.org/officeDocument/2006/relationships/image" Target="../media/image112.svg"/><Relationship Id="rId10" Type="http://schemas.openxmlformats.org/officeDocument/2006/relationships/image" Target="../media/image115.png"/><Relationship Id="rId4" Type="http://schemas.openxmlformats.org/officeDocument/2006/relationships/image" Target="../media/image111.png"/><Relationship Id="rId9" Type="http://schemas.openxmlformats.org/officeDocument/2006/relationships/image" Target="../media/image114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svg"/><Relationship Id="rId3" Type="http://schemas.openxmlformats.org/officeDocument/2006/relationships/image" Target="../media/image118.svg"/><Relationship Id="rId7" Type="http://schemas.openxmlformats.org/officeDocument/2006/relationships/image" Target="../media/image122.svg"/><Relationship Id="rId12" Type="http://schemas.openxmlformats.org/officeDocument/2006/relationships/image" Target="../media/image127.png"/><Relationship Id="rId2" Type="http://schemas.openxmlformats.org/officeDocument/2006/relationships/image" Target="../media/image1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1.png"/><Relationship Id="rId11" Type="http://schemas.openxmlformats.org/officeDocument/2006/relationships/image" Target="../media/image126.svg"/><Relationship Id="rId5" Type="http://schemas.openxmlformats.org/officeDocument/2006/relationships/image" Target="../media/image120.sv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svg"/><Relationship Id="rId3" Type="http://schemas.openxmlformats.org/officeDocument/2006/relationships/image" Target="../media/image130.svg"/><Relationship Id="rId7" Type="http://schemas.openxmlformats.org/officeDocument/2006/relationships/image" Target="../media/image134.svg"/><Relationship Id="rId12" Type="http://schemas.openxmlformats.org/officeDocument/2006/relationships/image" Target="../media/image139.png"/><Relationship Id="rId2" Type="http://schemas.openxmlformats.org/officeDocument/2006/relationships/image" Target="../media/image1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3.png"/><Relationship Id="rId11" Type="http://schemas.openxmlformats.org/officeDocument/2006/relationships/image" Target="../media/image138.svg"/><Relationship Id="rId5" Type="http://schemas.openxmlformats.org/officeDocument/2006/relationships/image" Target="../media/image132.svg"/><Relationship Id="rId15" Type="http://schemas.openxmlformats.org/officeDocument/2006/relationships/image" Target="../media/image142.sv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svg"/><Relationship Id="rId14" Type="http://schemas.openxmlformats.org/officeDocument/2006/relationships/image" Target="../media/image14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 flip="none" rotWithShape="1">
          <a:gsLst>
            <a:gs pos="13000">
              <a:schemeClr val="accent6"/>
            </a:gs>
            <a:gs pos="94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B3805-A2CB-4436-98AE-86CE509C5579}"/>
              </a:ext>
            </a:extLst>
          </p:cNvPr>
          <p:cNvGrpSpPr/>
          <p:nvPr userDrawn="1"/>
        </p:nvGrpSpPr>
        <p:grpSpPr>
          <a:xfrm>
            <a:off x="633986" y="314423"/>
            <a:ext cx="11092843" cy="4437854"/>
            <a:chOff x="633986" y="314423"/>
            <a:chExt cx="11092843" cy="443785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3C199D-C339-4C6A-9146-8053C92030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3986" y="314423"/>
              <a:ext cx="11092843" cy="38628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BFAD814-0F73-4B99-8714-FA03537D83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04394" y="662521"/>
              <a:ext cx="9469456" cy="39276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89BEE5E-E0D4-47F7-81B0-CE6BF36C5A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73790" y="473226"/>
              <a:ext cx="8610184" cy="2070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6E68713-CAEC-4B9F-A1C4-8E9793FD5D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26680" y="1000662"/>
              <a:ext cx="543600" cy="543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CF9B2BD-B648-46DA-9125-6B25EE18E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6528" y="536677"/>
              <a:ext cx="9027987" cy="42156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2BDBCA8-0425-4A55-9AE7-1C91EF6176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396264" y="3096515"/>
              <a:ext cx="165600" cy="1656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00925A2-B38C-4ED9-8CDD-D4462268A4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58625" y="779421"/>
              <a:ext cx="2771497" cy="181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B9104B-26DB-493C-8535-F6C35645B9A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524000" y="4536120"/>
            <a:ext cx="9144000" cy="1295013"/>
          </a:xfrm>
        </p:spPr>
        <p:txBody>
          <a:bodyPr anchor="b">
            <a:normAutofit/>
          </a:bodyPr>
          <a:lstStyle>
            <a:lvl1pPr algn="ctr">
              <a:defRPr sz="71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15EC5-5090-475C-9164-061FB25F072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24000" y="5923208"/>
            <a:ext cx="9144000" cy="645879"/>
          </a:xfrm>
        </p:spPr>
        <p:txBody>
          <a:bodyPr>
            <a:normAutofit/>
          </a:bodyPr>
          <a:lstStyle>
            <a:lvl1pPr marL="0" indent="0" algn="ctr">
              <a:buNone/>
              <a:defRPr sz="29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Baby Photo Album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4128C-9010-4488-BD55-4108C73E411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B465D-F705-4A2A-B85F-845C689D8CE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4DE7-6A27-46A5-B53B-D88E0CBA949C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31000">
              <a:schemeClr val="accent6">
                <a:lumMod val="75000"/>
              </a:schemeClr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523E3B9-AC60-4E86-B413-13A5253F0834}"/>
              </a:ext>
            </a:extLst>
          </p:cNvPr>
          <p:cNvGrpSpPr/>
          <p:nvPr userDrawn="1"/>
        </p:nvGrpSpPr>
        <p:grpSpPr>
          <a:xfrm>
            <a:off x="430971" y="218636"/>
            <a:ext cx="11421394" cy="6253086"/>
            <a:chOff x="430971" y="218636"/>
            <a:chExt cx="11421394" cy="6253086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1F9C169C-281C-4A1C-9E0B-50066832D4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0332" y="218636"/>
              <a:ext cx="11242033" cy="619200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D7D81077-E88F-440C-9A83-449AE0BF0D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028" y="340922"/>
              <a:ext cx="11233453" cy="6130800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3EA2BDA6-F714-43A2-94B3-BC0CC0958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0971" y="435367"/>
              <a:ext cx="10639739" cy="52056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C6E0CFFE-1D74-4D4A-A314-ABF4F00977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32402" y="228380"/>
              <a:ext cx="9672194" cy="61308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BCDC27F-155D-4A1C-B4B5-6E0B3BDB72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3624" y="1176848"/>
              <a:ext cx="7860376" cy="51048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7978569-1408-4DF9-94FD-B1031EE04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81648" y="1906435"/>
              <a:ext cx="136800" cy="1368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D49335-FB53-4B04-8BF8-2FE27DFB8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74" y="883689"/>
            <a:ext cx="4248443" cy="1325563"/>
          </a:xfrm>
        </p:spPr>
        <p:txBody>
          <a:bodyPr>
            <a:normAutofit/>
          </a:bodyPr>
          <a:lstStyle>
            <a:lvl1pPr>
              <a:defRPr sz="6000" b="1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 dirty="0"/>
              <a:t>1st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F8C2A-F45C-473D-9CE0-978D42D8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747BF-36C8-4A84-8AF0-98349030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CB2CA-DF28-49BB-B957-F0C11C0A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F892EC-164D-4E6E-BDF5-551ED57E09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2022" y="1993552"/>
            <a:ext cx="4248150" cy="5327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noProof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16680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accent6"/>
            </a:gs>
            <a:gs pos="100000">
              <a:schemeClr val="accent5">
                <a:lumMod val="7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4F10EC8-0906-44EA-A5EA-B8787695D0D8}"/>
              </a:ext>
            </a:extLst>
          </p:cNvPr>
          <p:cNvGrpSpPr/>
          <p:nvPr userDrawn="1"/>
        </p:nvGrpSpPr>
        <p:grpSpPr>
          <a:xfrm>
            <a:off x="436585" y="414370"/>
            <a:ext cx="11401053" cy="6012000"/>
            <a:chOff x="436585" y="414370"/>
            <a:chExt cx="11401053" cy="6012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9FB202C-4F0A-4802-91A6-836B880D08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639" y="446753"/>
              <a:ext cx="10925440" cy="57168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8D18849-E67D-4D03-9AF3-A2951C4B61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102" y="414370"/>
              <a:ext cx="10930909" cy="6012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8131578-5187-4E8C-9434-F33E01715A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6585" y="666311"/>
              <a:ext cx="11401053" cy="49824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2CBAC89-31BC-4AF6-A213-BA40EC21E6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2966" y="1690877"/>
              <a:ext cx="9664280" cy="45972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BBDFB7C-54AC-43A0-974B-FB0F4640C2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57088" y="729380"/>
              <a:ext cx="9703346" cy="54288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4CA781E-7722-4B46-B9C1-9BCF599535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0966" y="4478101"/>
              <a:ext cx="144000" cy="14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40A1F2-275F-419C-AAEA-D3A7C8798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1133" y="1048557"/>
            <a:ext cx="4341739" cy="2852737"/>
          </a:xfrm>
          <a:effectLst/>
        </p:spPr>
        <p:txBody>
          <a:bodyPr anchor="b">
            <a:normAutofit/>
          </a:bodyPr>
          <a:lstStyle>
            <a:lvl1pPr>
              <a:defRPr sz="60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2nd</a:t>
            </a:r>
            <a:br>
              <a:rPr lang="en-US" dirty="0"/>
            </a:br>
            <a:r>
              <a:rPr lang="en-US" dirty="0"/>
              <a:t>Month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BCE06-FC81-4704-B49B-BBDBA7F925C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01132" y="3938400"/>
            <a:ext cx="4046317" cy="1500187"/>
          </a:xfrm>
          <a:effectLst/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88C11-8129-43C9-A10B-7A893A15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60DC-2B00-4764-BE37-0A7B8DB4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D5888-8E88-44C3-89C1-FE20B9D7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F6C85392-1C1F-497E-91D7-A98D835DBC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91" y="859092"/>
            <a:ext cx="6125770" cy="513981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663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5000">
              <a:schemeClr val="accent5">
                <a:lumMod val="50000"/>
              </a:schemeClr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586EFB-15E8-4419-8B41-468E9A15E718}"/>
              </a:ext>
            </a:extLst>
          </p:cNvPr>
          <p:cNvGrpSpPr/>
          <p:nvPr userDrawn="1"/>
        </p:nvGrpSpPr>
        <p:grpSpPr>
          <a:xfrm flipH="1">
            <a:off x="313230" y="441553"/>
            <a:ext cx="11565539" cy="6097359"/>
            <a:chOff x="266438" y="262590"/>
            <a:chExt cx="11565539" cy="6097359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082142F-6A78-4253-BC8B-AFCD1BADF1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5915" y="276039"/>
              <a:ext cx="11440170" cy="58788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E16A53B8-920D-4B64-B3EF-7470A7C7A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5700" y="322749"/>
              <a:ext cx="11044899" cy="60372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913BD7D-DD14-4153-A0B9-4E415E669A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6438" y="297496"/>
              <a:ext cx="11549647" cy="540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3B10F7C-FF26-4A19-ABB3-E596CBB9C7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26951" y="262590"/>
              <a:ext cx="5167291" cy="6696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F61496-CE23-4745-AE24-8B6C1506EB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6175" y="1695668"/>
              <a:ext cx="11065802" cy="45864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CD1E5149-37C5-413F-A4FA-660F6BFBF0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84614" y="4473890"/>
              <a:ext cx="144000" cy="144000"/>
            </a:xfrm>
            <a:prstGeom prst="rect">
              <a:avLst/>
            </a:prstGeom>
          </p:spPr>
        </p:pic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328A7-8FDA-49C5-BF71-0E7CC737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0BDD-35F6-4BF6-B50B-492EACB9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57B81-CC28-4166-AD5A-12607EED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249ED2E-953A-4746-B174-A4337B9B2F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7001" y="859093"/>
            <a:ext cx="5121856" cy="385439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4E1606A6-3EDD-418C-8294-C63A91D255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220" y="859093"/>
            <a:ext cx="5121856" cy="385439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itle 12">
            <a:extLst>
              <a:ext uri="{FF2B5EF4-FFF2-40B4-BE49-F238E27FC236}">
                <a16:creationId xmlns:a16="http://schemas.microsoft.com/office/drawing/2014/main" id="{CFC2496D-417A-3C42-85B8-E3980EB3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229" y="4818614"/>
            <a:ext cx="4214622" cy="10154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3rd Month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7F59A2F-DDE0-2E41-A0DC-D8F2576DD1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7715" y="5756005"/>
            <a:ext cx="3639161" cy="581955"/>
          </a:xfrm>
        </p:spPr>
        <p:txBody>
          <a:bodyPr anchor="ctr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1912624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gradFill>
          <a:gsLst>
            <a:gs pos="14000">
              <a:schemeClr val="accent3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991E43F-4BBA-4DE7-9FCA-FCC8C282F73F}"/>
              </a:ext>
            </a:extLst>
          </p:cNvPr>
          <p:cNvGrpSpPr/>
          <p:nvPr userDrawn="1"/>
        </p:nvGrpSpPr>
        <p:grpSpPr>
          <a:xfrm>
            <a:off x="508475" y="328912"/>
            <a:ext cx="11389981" cy="6210000"/>
            <a:chOff x="508475" y="328912"/>
            <a:chExt cx="11389981" cy="621000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15739FC-BCFE-4479-8296-4A3FA85B5C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543" y="328912"/>
              <a:ext cx="11010368" cy="621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694A1DD0-0E35-45A7-A53E-5C17DD9313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1159" y="421200"/>
              <a:ext cx="7741595" cy="60156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E138487-A8C6-4B36-8F9E-A932A44A07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0475" y="585398"/>
              <a:ext cx="3571200" cy="162673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73F69D5-63FF-4468-95F8-6A61E73471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53683" y="511532"/>
              <a:ext cx="7369681" cy="58068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635BB9B-2AB5-470B-8F8C-D7CA0800AA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49750" y="490912"/>
              <a:ext cx="9948706" cy="6048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019D6A7-CFD3-4824-9DDC-02AA5455F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8475" y="2241798"/>
              <a:ext cx="144000" cy="14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9236FC-5672-49DF-9990-33C1068412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15" y="2419008"/>
            <a:ext cx="3201988" cy="1325563"/>
          </a:xfrm>
        </p:spPr>
        <p:txBody>
          <a:bodyPr/>
          <a:lstStyle>
            <a:lvl1pPr algn="r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/>
              <a:t>4th</a:t>
            </a:r>
            <a:br>
              <a:rPr lang="en-US" noProof="0"/>
            </a:br>
            <a:r>
              <a:rPr lang="en-US" noProof="0"/>
              <a:t>Month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63CAB-898D-4C26-8090-EB4AE1BA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9D4D4-9C5D-4FA2-927F-1A6061C0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5591D-33AD-4129-93EC-DC96E795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FF1837B-E107-41D7-A4FD-D1107352E2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090" y="3883725"/>
            <a:ext cx="2749714" cy="1049684"/>
          </a:xfrm>
        </p:spPr>
        <p:txBody>
          <a:bodyPr>
            <a:no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noProof="0"/>
              <a:t>Lorem Ipsum Dolor Sit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D2E32D74-69FB-B14B-A3FD-2E1D8BCC2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32233" y="824892"/>
            <a:ext cx="5202936" cy="5202936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888F3336-3879-2849-8EC3-25A5F7AA238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54025" y="2483467"/>
            <a:ext cx="3182112" cy="3178506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27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0">
              <a:schemeClr val="accent2"/>
            </a:gs>
            <a:gs pos="74000">
              <a:schemeClr val="accent6">
                <a:lumMod val="7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93175C0-A84C-4276-908B-7750823E494F}"/>
              </a:ext>
            </a:extLst>
          </p:cNvPr>
          <p:cNvGrpSpPr/>
          <p:nvPr userDrawn="1"/>
        </p:nvGrpSpPr>
        <p:grpSpPr>
          <a:xfrm flipV="1">
            <a:off x="334728" y="208663"/>
            <a:ext cx="11506967" cy="6383095"/>
            <a:chOff x="334728" y="208663"/>
            <a:chExt cx="11506967" cy="6383095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F5311694-819D-41DE-BF3E-C1E581A84F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25842" y="345463"/>
              <a:ext cx="3540062" cy="56844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DCA784C-C4B6-4718-8C3D-DE60B531EE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4312" y="234158"/>
              <a:ext cx="11395459" cy="63576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19488E6-1456-4BA3-8791-5137053185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41592" y="208663"/>
              <a:ext cx="9743680" cy="5958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0FBDD34-9852-4770-BF5C-23F7E3D1F8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4227" y="1672660"/>
              <a:ext cx="11087713" cy="477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222006A-F2BD-4688-94D9-13B105F69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36338" y="312821"/>
              <a:ext cx="10105357" cy="55224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E35A1AB5-1CF6-4A2D-AD28-607F066493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34728" y="312821"/>
              <a:ext cx="144000" cy="1440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D9A3-AD51-4FBE-8317-8865982A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52F5E-D5D4-4EEA-9757-C4547755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6EF9D-E154-4CEF-A48E-9B9B1C2F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E7698F4-C7C5-8941-9C1A-C3F07AC59F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91" y="859093"/>
            <a:ext cx="5097296" cy="385439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59F8F906-97AF-B74A-BFDF-7EEB2B339E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9944" y="859093"/>
            <a:ext cx="5093208" cy="516581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itle 12">
            <a:extLst>
              <a:ext uri="{FF2B5EF4-FFF2-40B4-BE49-F238E27FC236}">
                <a16:creationId xmlns:a16="http://schemas.microsoft.com/office/drawing/2014/main" id="{598F5B0C-28F9-674D-93EC-53F7C2A20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229" y="4818614"/>
            <a:ext cx="4214622" cy="10154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5th Month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6CB759-9A58-9648-8BC2-C8F216A8A9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7715" y="5756005"/>
            <a:ext cx="3639161" cy="581955"/>
          </a:xfrm>
        </p:spPr>
        <p:txBody>
          <a:bodyPr anchor="ctr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2638976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">
              <a:schemeClr val="accent5">
                <a:lumMod val="50000"/>
              </a:schemeClr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2251EEA-1822-4D83-8B0E-EBB8A85D3B1B}"/>
              </a:ext>
            </a:extLst>
          </p:cNvPr>
          <p:cNvGrpSpPr/>
          <p:nvPr userDrawn="1"/>
        </p:nvGrpSpPr>
        <p:grpSpPr>
          <a:xfrm flipH="1">
            <a:off x="195800" y="262780"/>
            <a:ext cx="11688810" cy="6271032"/>
            <a:chOff x="195800" y="262780"/>
            <a:chExt cx="11688810" cy="6271032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16C1DC0-9093-4B37-9E1D-241A0EC4CB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505" y="275454"/>
              <a:ext cx="11143818" cy="62136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FDF5BE46-EAF2-4534-9EE8-0DC3371914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8130" y="275454"/>
              <a:ext cx="11503656" cy="58788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982E5CB-8E3F-4AB8-91EF-257964EA79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5800" y="262780"/>
              <a:ext cx="11619944" cy="5454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B732BE1E-17BA-4178-A815-5482FC3FEB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5852" y="1544212"/>
              <a:ext cx="11020287" cy="49896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53D06E0-87FE-4D02-9099-AB87DE1499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94870" y="285764"/>
              <a:ext cx="5167291" cy="6696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27E7641-2CB5-45BF-A626-57CF7F56D1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740610" y="4804611"/>
              <a:ext cx="144000" cy="1440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6AF8F-C172-448B-9151-C21EDDF1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DEC3F-9D4F-4ED6-85DB-BD63AC4C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A8AFF-DA7E-41BF-AF3F-475734EC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8C28059-916A-4C3E-8196-B1AF0B1B8D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7000" y="859093"/>
            <a:ext cx="3108960" cy="3842274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EE37700-D9CB-43DD-9A10-550C46F741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07992" y="859093"/>
            <a:ext cx="3108960" cy="3842274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6A7982-9813-45F9-A283-E904363B77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02752" y="859093"/>
            <a:ext cx="3108960" cy="3842274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itle 12">
            <a:extLst>
              <a:ext uri="{FF2B5EF4-FFF2-40B4-BE49-F238E27FC236}">
                <a16:creationId xmlns:a16="http://schemas.microsoft.com/office/drawing/2014/main" id="{FEC987F1-63D0-334B-ACF4-751A74EFF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229" y="4818614"/>
            <a:ext cx="4214622" cy="10154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6th Month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00D425B1-8CBE-CE42-84D6-F3CB181430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715" y="5756005"/>
            <a:ext cx="3639161" cy="581955"/>
          </a:xfrm>
        </p:spPr>
        <p:txBody>
          <a:bodyPr anchor="ctr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23453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gradFill>
          <a:gsLst>
            <a:gs pos="81000">
              <a:schemeClr val="accent3"/>
            </a:gs>
            <a:gs pos="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5A1212F-D29F-47E1-AC08-38779C5926FE}"/>
              </a:ext>
            </a:extLst>
          </p:cNvPr>
          <p:cNvGrpSpPr/>
          <p:nvPr userDrawn="1"/>
        </p:nvGrpSpPr>
        <p:grpSpPr>
          <a:xfrm>
            <a:off x="278746" y="254921"/>
            <a:ext cx="11549647" cy="6203781"/>
            <a:chOff x="278746" y="254921"/>
            <a:chExt cx="11549647" cy="6203781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96145E-9F3D-4A36-B907-928E8A7FE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5776" y="254921"/>
              <a:ext cx="11440448" cy="60948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C86EBA36-FD5B-4ADE-B84A-47B89A1CCD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2219" y="273902"/>
              <a:ext cx="11036122" cy="61848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E0D0658C-80CC-4D8B-8DD7-0F2F509E63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8746" y="914776"/>
              <a:ext cx="11549647" cy="5400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8E461E5-5712-4D60-9F36-37F33F9BE1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8973" y="991135"/>
              <a:ext cx="11065802" cy="45864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9E2F6079-586C-4EBF-AFB8-6A8FFE3779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21485" y="5694932"/>
              <a:ext cx="5167291" cy="6696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FE268AA-D98F-49E9-9B5F-B0E841D601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94150" y="2028858"/>
              <a:ext cx="144000" cy="144000"/>
            </a:xfrm>
            <a:prstGeom prst="rect">
              <a:avLst/>
            </a:prstGeom>
          </p:spPr>
        </p:pic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A3289-F71D-40BC-9CB1-DB0FFDCA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EFC2B-A599-4AAD-8B2B-03BF1047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CB4AD-5B6B-4B9B-8013-DF6602D0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18CF9E-D8B3-4061-A8D5-E2A4DB61480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7001" y="914776"/>
            <a:ext cx="6332792" cy="4474868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0FE86822-17BC-4CC5-8BAC-60FABCB479B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944395" y="865722"/>
            <a:ext cx="3552446" cy="3671014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2CB25C-3D41-473A-85EA-0364315E90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21506" y="3247644"/>
            <a:ext cx="2139696" cy="2142000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B7311EA-D7F5-F647-99F5-FA9CA77FF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271" y="5316319"/>
            <a:ext cx="46796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7th Month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8C4E3FC-6087-9740-846E-8DD54C3285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7802" y="5524973"/>
            <a:ext cx="4114800" cy="1019249"/>
          </a:xfrm>
        </p:spPr>
        <p:txBody>
          <a:bodyPr anchor="ctr"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329738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3100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5E5663B-D99F-4444-B2F7-9C6FCC737BDA}"/>
              </a:ext>
            </a:extLst>
          </p:cNvPr>
          <p:cNvGrpSpPr/>
          <p:nvPr userDrawn="1"/>
        </p:nvGrpSpPr>
        <p:grpSpPr>
          <a:xfrm flipV="1">
            <a:off x="256474" y="261493"/>
            <a:ext cx="11727288" cy="6271970"/>
            <a:chOff x="256474" y="261493"/>
            <a:chExt cx="11727288" cy="6271970"/>
          </a:xfrm>
          <a:solidFill>
            <a:schemeClr val="bg1">
              <a:alpha val="15011"/>
            </a:schemeClr>
          </a:solidFill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383FAD6-A9C4-4E14-A66D-4A75FAF31A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1006" y="327108"/>
              <a:ext cx="11525819" cy="61632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DEC9058-4C69-4AB1-9714-CB2437C30D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1217" y="367692"/>
              <a:ext cx="11602545" cy="5922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7E5211C-EC13-41AF-A772-CE60834737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474" y="326501"/>
              <a:ext cx="11504110" cy="55296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7C3A89D-A737-49F3-A921-7D3CDE56B6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6793" y="1720263"/>
              <a:ext cx="11061470" cy="48132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6A6FE50-4B6B-49D3-9463-BB845FC9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60403" y="261493"/>
              <a:ext cx="5401846" cy="504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C1FADB1-3785-4E54-BD91-963A06FA7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689293" y="4852484"/>
              <a:ext cx="144000" cy="144000"/>
            </a:xfrm>
            <a:prstGeom prst="rect">
              <a:avLst/>
            </a:prstGeom>
          </p:spPr>
        </p:pic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3735EAC-5ED9-4F62-ABD1-5E2642911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0158" y="859093"/>
            <a:ext cx="2934001" cy="422072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6957C-CC9E-42D1-B1F4-A767BB71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EDB01-6A45-415F-BB57-B2FF146E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971EA-4F70-4B6F-B95B-47DFDA4D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937B18-1EFB-4925-8BA6-8AEFE9AD79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1960" y="859093"/>
            <a:ext cx="3675888" cy="184310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16C792A-311E-49C1-B927-5188236386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51960" y="3230690"/>
            <a:ext cx="3675888" cy="184310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DB4BC6-5388-43E4-AA70-807AFBC6D8D9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577072" y="859093"/>
            <a:ext cx="2931633" cy="422072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2C4E347F-7143-2046-BFFF-4D08F49CEF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0834" y="5577840"/>
            <a:ext cx="2881767" cy="1019249"/>
          </a:xfrm>
        </p:spPr>
        <p:txBody>
          <a:bodyPr anchor="ctr"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31983C5F-E737-8446-9BCA-4C30109E5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271" y="5316319"/>
            <a:ext cx="46796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11th Month</a:t>
            </a:r>
          </a:p>
        </p:txBody>
      </p:sp>
    </p:spTree>
    <p:extLst>
      <p:ext uri="{BB962C8B-B14F-4D97-AF65-F5344CB8AC3E}">
        <p14:creationId xmlns:p14="http://schemas.microsoft.com/office/powerpoint/2010/main" val="208489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gradFill>
          <a:gsLst>
            <a:gs pos="0">
              <a:schemeClr val="accent2"/>
            </a:gs>
            <a:gs pos="65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E59AD50-85A1-4E8E-A10E-7C8B27A040B5}"/>
              </a:ext>
            </a:extLst>
          </p:cNvPr>
          <p:cNvGrpSpPr/>
          <p:nvPr userDrawn="1"/>
        </p:nvGrpSpPr>
        <p:grpSpPr>
          <a:xfrm>
            <a:off x="265200" y="211797"/>
            <a:ext cx="11597599" cy="6236982"/>
            <a:chOff x="265200" y="211797"/>
            <a:chExt cx="11597599" cy="6236982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FE3352A-FE5E-4BA4-A20A-27B2B71466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727" y="211797"/>
              <a:ext cx="11420546" cy="54432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9A97BF7-6982-4EAE-8CCF-71628CA440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00" y="1077579"/>
              <a:ext cx="9472613" cy="53712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6A70699-8AE0-487A-87E6-9AF39A5E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96497" y="360274"/>
              <a:ext cx="9888200" cy="56232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CDF05D3-995B-4D06-8B84-2B5728A0C1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6728" y="430474"/>
              <a:ext cx="10190647" cy="40788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A50EF869-DF4B-4E8F-AA4C-07413EE3BE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5627" y="300531"/>
              <a:ext cx="11457172" cy="5976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A62C5550-C7B4-478D-A50A-E674A1CEFF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891718" y="6238464"/>
              <a:ext cx="108000" cy="10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569200-4B56-44C7-BE76-EE495EF22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256" y="4974336"/>
            <a:ext cx="4285247" cy="790728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9th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F4D93180-0DB3-4C63-9065-5D7EF7C24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10" y="859092"/>
            <a:ext cx="4983480" cy="524736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DE03040-C85E-413F-803E-FC80926C68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0800" y="859092"/>
            <a:ext cx="3199530" cy="294977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B9E9B6C-16CF-461D-8A49-226A492879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1009" y="2011680"/>
            <a:ext cx="2358001" cy="2379600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07E3FCF-AC8E-42D0-A379-0358791AF7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0255" y="5806439"/>
            <a:ext cx="4285247" cy="777240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220960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gradFill>
          <a:gsLst>
            <a:gs pos="17000">
              <a:schemeClr val="accent1"/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9C1D535-15FE-4AE9-BB66-5361D692D4DC}"/>
              </a:ext>
            </a:extLst>
          </p:cNvPr>
          <p:cNvGrpSpPr/>
          <p:nvPr userDrawn="1"/>
        </p:nvGrpSpPr>
        <p:grpSpPr>
          <a:xfrm>
            <a:off x="229449" y="233862"/>
            <a:ext cx="11709704" cy="6322883"/>
            <a:chOff x="229449" y="233862"/>
            <a:chExt cx="11709704" cy="6322883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B275128-7496-498E-96B3-4133B3A6E9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93" y="233862"/>
              <a:ext cx="11421613" cy="35748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4170EEB-423D-4503-B447-5A6DFE4C6D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449" y="283484"/>
              <a:ext cx="11682694" cy="62604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E4FC028-6A7F-464B-8DE4-89A5BC6A34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04666" y="282797"/>
              <a:ext cx="5167290" cy="6696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D0E7667-1F91-4259-8E3E-2391F6237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201" y="264916"/>
              <a:ext cx="11549647" cy="62640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E199AC3A-63E5-48DF-8EFB-E9DD14245B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4248" y="1351145"/>
              <a:ext cx="11134905" cy="52056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7082B659-6998-45CF-901F-834BBE1622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740790" y="4438126"/>
              <a:ext cx="144000" cy="144000"/>
            </a:xfrm>
            <a:prstGeom prst="rect">
              <a:avLst/>
            </a:prstGeom>
          </p:spPr>
        </p:pic>
      </p:grp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F4D93180-0DB3-4C63-9065-5D7EF7C24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8504" y="777240"/>
            <a:ext cx="5202936" cy="5202936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69200-4B56-44C7-BE76-EE495EF22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256" y="4334256"/>
            <a:ext cx="2914991" cy="1325563"/>
          </a:xfrm>
        </p:spPr>
        <p:txBody>
          <a:bodyPr/>
          <a:lstStyle>
            <a:lvl1pPr algn="r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10th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8B2DEC3-D259-45E7-9A7E-B74BB5565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2688" y="5833872"/>
            <a:ext cx="2881767" cy="1019249"/>
          </a:xfrm>
        </p:spPr>
        <p:txBody>
          <a:bodyPr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A78E3EE-555C-422D-B7F9-EA24F1BAF67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786384" y="2459736"/>
            <a:ext cx="1575583" cy="1572768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AAD8576-4E8B-473C-A9F2-19E0A00994F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715768" y="777240"/>
            <a:ext cx="3068723" cy="3063240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2DF910E-F574-447B-B3D3-0A761B4EB8C9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4581144" y="3813048"/>
            <a:ext cx="2409176" cy="2404872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14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Vertical Text">
    <p:bg>
      <p:bgPr>
        <a:gradFill>
          <a:gsLst>
            <a:gs pos="0">
              <a:schemeClr val="accent2"/>
            </a:gs>
            <a:gs pos="84000">
              <a:schemeClr val="accent5">
                <a:lumMod val="7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CCCD01B-490D-4F3F-B34B-059EC2B80668}"/>
              </a:ext>
            </a:extLst>
          </p:cNvPr>
          <p:cNvGrpSpPr/>
          <p:nvPr userDrawn="1"/>
        </p:nvGrpSpPr>
        <p:grpSpPr>
          <a:xfrm>
            <a:off x="359344" y="184651"/>
            <a:ext cx="11524164" cy="6283315"/>
            <a:chOff x="359344" y="184651"/>
            <a:chExt cx="11524164" cy="6283315"/>
          </a:xfrm>
          <a:solidFill>
            <a:schemeClr val="bg1">
              <a:alpha val="16006"/>
            </a:schemeClr>
          </a:solidFill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69EBD2-1035-4C38-8422-4F3A988DE9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1251" y="254748"/>
              <a:ext cx="2855876" cy="6156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AF36804-0D46-44B4-B63E-FE01467B75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0023" y="184651"/>
              <a:ext cx="11387179" cy="62712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BBAEFA2-86F2-4D56-9D84-34342C95FD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7183" y="380993"/>
              <a:ext cx="4358738" cy="59472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25D5ED6-A8CE-495D-A5EB-509B36EE5F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0864" y="469509"/>
              <a:ext cx="1180553" cy="38844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8E497AE-4726-4301-927D-F14FF1DC07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4401" y="268766"/>
              <a:ext cx="10099107" cy="61992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8789768-A6B3-4619-91B5-48717A86D7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59344" y="2125327"/>
              <a:ext cx="144000" cy="144000"/>
            </a:xfrm>
            <a:prstGeom prst="rect">
              <a:avLst/>
            </a:prstGeom>
          </p:spPr>
        </p:pic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1150079-C6AE-4380-B8F8-F9ABE614B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91" y="859092"/>
            <a:ext cx="10826019" cy="433141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8B2DEC3-D259-45E7-9A7E-B74BB5565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50808" y="5559552"/>
            <a:ext cx="2881767" cy="1019249"/>
          </a:xfrm>
        </p:spPr>
        <p:txBody>
          <a:bodyPr anchor="ctr"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69C291A-AD95-0245-BA1D-DD760C977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271" y="5316319"/>
            <a:ext cx="46796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11th Month</a:t>
            </a:r>
          </a:p>
        </p:txBody>
      </p:sp>
    </p:spTree>
    <p:extLst>
      <p:ext uri="{BB962C8B-B14F-4D97-AF65-F5344CB8AC3E}">
        <p14:creationId xmlns:p14="http://schemas.microsoft.com/office/powerpoint/2010/main" val="3915942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Vertical Text">
    <p:bg>
      <p:bgPr>
        <a:gradFill flip="none" rotWithShape="1">
          <a:gsLst>
            <a:gs pos="82000">
              <a:schemeClr val="accent1"/>
            </a:gs>
            <a:gs pos="0">
              <a:schemeClr val="accent5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09E4FCE-4D16-429B-943E-A6B3E1C9FA1B}"/>
              </a:ext>
            </a:extLst>
          </p:cNvPr>
          <p:cNvGrpSpPr/>
          <p:nvPr userDrawn="1"/>
        </p:nvGrpSpPr>
        <p:grpSpPr>
          <a:xfrm>
            <a:off x="232073" y="293318"/>
            <a:ext cx="11593374" cy="6229552"/>
            <a:chOff x="232073" y="293318"/>
            <a:chExt cx="11593374" cy="622955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4556B1E-8FB8-4605-9F61-EC90EB79A1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073" y="293318"/>
              <a:ext cx="11593374" cy="61272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B2C9F81-53BA-491A-86CC-E487FC2914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8877" y="3526821"/>
              <a:ext cx="6246000" cy="29960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6F9022F-9D48-4ECD-8425-93DCDB212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75813" y="520667"/>
              <a:ext cx="7938039" cy="58932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FE10765A-FD00-4D96-8F8A-947A674C9A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74464" y="475200"/>
              <a:ext cx="6352258" cy="59076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F7CCE647-265B-4ECE-B704-428E97712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48390" y="607345"/>
              <a:ext cx="7280509" cy="57204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3D605B8-0035-4AE5-9086-5B983D62B0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23192" y="652933"/>
              <a:ext cx="1648884" cy="10908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0F4FD87-4448-48A3-9CAA-BFAFE31E08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642684" y="375240"/>
              <a:ext cx="108000" cy="10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569200-4B56-44C7-BE76-EE495EF22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40668" y="2264424"/>
            <a:ext cx="30032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12th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8B2DEC3-D259-45E7-9A7E-B74BB5565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1120" y="3785616"/>
            <a:ext cx="2881767" cy="1019249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70087-9540-496D-AA8A-F5B08E0AF3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859" y="859093"/>
            <a:ext cx="7436541" cy="5111496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D75BD4A-D07A-4DBF-9CA9-2A4E2BEC88A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0999" y="483240"/>
            <a:ext cx="2505456" cy="2509200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32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Quot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EE128E1-0CDA-47A1-D35D-9C25479EF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9BAD8-E856-5A54-5FB5-85E6CAC4E304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FCF455-BD54-50B4-8076-41DC7D47954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753856-64E9-57B8-BA9A-9192CD4E9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1"/>
            <a:ext cx="12188952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BB5D38-3664-8477-8F8A-91B17B1EE50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4A8525-6EB9-D4F1-AB1C-1F0B1952FC3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92984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78600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46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1C3DD-C57B-4348-9F13-E6878EEE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0649B-A03C-4FF0-9513-E8F61D459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5177F-81CA-42DC-8AF5-691DA37EE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fld id="{1AE79C76-63EB-410C-B7D1-E9EDFD942730}" type="datetimeFigureOut">
              <a:rPr lang="en-US" smtClean="0"/>
              <a:pPr/>
              <a:t>10/21/25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F8DBA-7954-4F4A-AF00-E0521C49D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9D787-7648-4928-A33C-7746CCE5A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00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tx1"/>
          </a:solidFill>
          <a:latin typeface="Avenir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3000">
              <a:srgbClr val="76D6FF"/>
            </a:gs>
            <a:gs pos="100000">
              <a:schemeClr val="accent5"/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F2D6D-7997-8B20-53BF-109AFE93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49E6-4207-33CE-3C98-FC6EE7B63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748" y="518532"/>
            <a:ext cx="10544503" cy="5820936"/>
          </a:xfrm>
          <a:gradFill>
            <a:gsLst>
              <a:gs pos="100000">
                <a:srgbClr val="000000">
                  <a:alpha val="76100"/>
                </a:srgbClr>
              </a:gs>
              <a:gs pos="0">
                <a:schemeClr val="bg2">
                  <a:lumMod val="25000"/>
                  <a:alpha val="60798"/>
                </a:schemeClr>
              </a:gs>
            </a:gsLst>
            <a:lin ang="13800000" scaled="0"/>
          </a:gradFill>
        </p:spPr>
        <p:txBody>
          <a:bodyPr anchor="ctr">
            <a:normAutofit/>
          </a:bodyPr>
          <a:lstStyle/>
          <a:p>
            <a:r>
              <a:rPr lang="en-US" sz="8800" u="sng" dirty="0">
                <a:gradFill flip="none" rotWithShape="1">
                  <a:gsLst>
                    <a:gs pos="100000">
                      <a:srgbClr val="FF85FF"/>
                    </a:gs>
                    <a:gs pos="0">
                      <a:srgbClr val="76D6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Project 12</a:t>
            </a:r>
            <a:r>
              <a:rPr lang="en-US" sz="8800" dirty="0">
                <a:gradFill flip="none" rotWithShape="1">
                  <a:gsLst>
                    <a:gs pos="100000">
                      <a:srgbClr val="FF85FF"/>
                    </a:gs>
                    <a:gs pos="0">
                      <a:srgbClr val="76D6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 </a:t>
            </a:r>
            <a:br>
              <a:rPr lang="en-US" sz="8800" dirty="0">
                <a:gradFill flip="none" rotWithShape="1">
                  <a:gsLst>
                    <a:gs pos="100000">
                      <a:srgbClr val="00B0F0"/>
                    </a:gs>
                    <a:gs pos="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</a:br>
            <a:r>
              <a:rPr lang="en-US" sz="6600" dirty="0">
                <a:gradFill flip="none" rotWithShape="1">
                  <a:gsLst>
                    <a:gs pos="0">
                      <a:srgbClr val="76D6FF"/>
                    </a:gs>
                    <a:gs pos="100000">
                      <a:srgbClr val="FF85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CRM (Customer Relationship Management) Analytics</a:t>
            </a:r>
            <a:endParaRPr lang="en-US" dirty="0">
              <a:gradFill flip="none" rotWithShape="1">
                <a:gsLst>
                  <a:gs pos="0">
                    <a:srgbClr val="76D6FF"/>
                  </a:gs>
                  <a:gs pos="100000">
                    <a:srgbClr val="FF85FF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D8105-166A-8313-03AE-1B0C54208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31863"/>
            <a:ext cx="9144000" cy="645879"/>
          </a:xfrm>
        </p:spPr>
        <p:txBody>
          <a:bodyPr/>
          <a:lstStyle/>
          <a:p>
            <a:r>
              <a:rPr lang="en-US" dirty="0"/>
              <a:t>www.3aayaam.in</a:t>
            </a:r>
          </a:p>
        </p:txBody>
      </p:sp>
    </p:spTree>
    <p:extLst>
      <p:ext uri="{BB962C8B-B14F-4D97-AF65-F5344CB8AC3E}">
        <p14:creationId xmlns:p14="http://schemas.microsoft.com/office/powerpoint/2010/main" val="142580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C30E6-514D-4794-379F-3824ADBF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35121-FF9F-C226-B0D9-3D376B8B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0176" y="6460957"/>
            <a:ext cx="2486526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413B-438B-1B10-CEFD-0479833E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7345" y="6460956"/>
            <a:ext cx="47214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5751D93-FEF3-C7E1-ECDD-3DAEA119CFA6}"/>
              </a:ext>
            </a:extLst>
          </p:cNvPr>
          <p:cNvSpPr txBox="1">
            <a:spLocks/>
          </p:cNvSpPr>
          <p:nvPr/>
        </p:nvSpPr>
        <p:spPr>
          <a:xfrm>
            <a:off x="323890" y="136524"/>
            <a:ext cx="11489526" cy="1042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85FF"/>
                </a:solidFill>
              </a:rPr>
              <a:t>CRM Application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2DB69-6C83-F768-A92A-BB9DA2523E49}"/>
              </a:ext>
            </a:extLst>
          </p:cNvPr>
          <p:cNvSpPr txBox="1"/>
          <p:nvPr/>
        </p:nvSpPr>
        <p:spPr>
          <a:xfrm>
            <a:off x="323888" y="1212650"/>
            <a:ext cx="114895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Customer Relationship Management.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Zoho Corporation, Salesforce, Adobe CRM, Nimble, Microsoft Dynamics 365 etc.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Used by organizations to manage customer engagement. Helps organizations to improve customer business relation, drive growth and increase revenue.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2E070EFB-6F28-CC34-E855-8729F6EBC59A}"/>
              </a:ext>
            </a:extLst>
          </p:cNvPr>
          <p:cNvSpPr/>
          <p:nvPr/>
        </p:nvSpPr>
        <p:spPr>
          <a:xfrm>
            <a:off x="637672" y="2957247"/>
            <a:ext cx="1612231" cy="124685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Marketing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2F2CDFB-B71C-F98F-B0D1-31F38C4140BE}"/>
              </a:ext>
            </a:extLst>
          </p:cNvPr>
          <p:cNvSpPr/>
          <p:nvPr/>
        </p:nvSpPr>
        <p:spPr>
          <a:xfrm>
            <a:off x="2799988" y="2957246"/>
            <a:ext cx="1664369" cy="124685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Lead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66C2DF7C-3349-4D99-9B98-CFB0D1BCE57C}"/>
              </a:ext>
            </a:extLst>
          </p:cNvPr>
          <p:cNvSpPr/>
          <p:nvPr/>
        </p:nvSpPr>
        <p:spPr>
          <a:xfrm>
            <a:off x="5017725" y="2957247"/>
            <a:ext cx="1664369" cy="124685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Acquisition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0CBE6A61-5B4A-0A92-FC91-D46982D663BB}"/>
              </a:ext>
            </a:extLst>
          </p:cNvPr>
          <p:cNvSpPr/>
          <p:nvPr/>
        </p:nvSpPr>
        <p:spPr>
          <a:xfrm>
            <a:off x="7224966" y="2957247"/>
            <a:ext cx="1664369" cy="124685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Conversion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21BF2823-771C-5A79-0893-A7144728CE73}"/>
              </a:ext>
            </a:extLst>
          </p:cNvPr>
          <p:cNvSpPr/>
          <p:nvPr/>
        </p:nvSpPr>
        <p:spPr>
          <a:xfrm>
            <a:off x="9432207" y="2957247"/>
            <a:ext cx="1664369" cy="124685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Service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F3F9B3-3195-17DF-87C2-6EC428987C8C}"/>
              </a:ext>
            </a:extLst>
          </p:cNvPr>
          <p:cNvSpPr/>
          <p:nvPr/>
        </p:nvSpPr>
        <p:spPr>
          <a:xfrm>
            <a:off x="637672" y="4318002"/>
            <a:ext cx="1612231" cy="12468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Product/service Branding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Campaign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Tracking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332820-1179-D182-EF29-BC45C16D7105}"/>
              </a:ext>
            </a:extLst>
          </p:cNvPr>
          <p:cNvSpPr/>
          <p:nvPr/>
        </p:nvSpPr>
        <p:spPr>
          <a:xfrm>
            <a:off x="2799989" y="4318001"/>
            <a:ext cx="1612231" cy="12468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Prospect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Capture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Engage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483725-9BEC-1CB0-B042-5E062066A34C}"/>
              </a:ext>
            </a:extLst>
          </p:cNvPr>
          <p:cNvSpPr/>
          <p:nvPr/>
        </p:nvSpPr>
        <p:spPr>
          <a:xfrm>
            <a:off x="5014442" y="4318002"/>
            <a:ext cx="1612231" cy="12468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Qualify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Budget Allocation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C2730A-71D7-969B-48C3-188EFABC077B}"/>
              </a:ext>
            </a:extLst>
          </p:cNvPr>
          <p:cNvSpPr/>
          <p:nvPr/>
        </p:nvSpPr>
        <p:spPr>
          <a:xfrm>
            <a:off x="7218399" y="4318001"/>
            <a:ext cx="1612231" cy="12468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Create opp.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Manage opp.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Win or Lose opp.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36CEC9-D7A1-71EB-A864-D1EC8A973B29}"/>
              </a:ext>
            </a:extLst>
          </p:cNvPr>
          <p:cNvSpPr/>
          <p:nvPr/>
        </p:nvSpPr>
        <p:spPr>
          <a:xfrm>
            <a:off x="9417441" y="4318001"/>
            <a:ext cx="1612231" cy="12468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Onboard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Cust satisfaction</a:t>
            </a:r>
          </a:p>
          <a:p>
            <a:pPr marL="177750" indent="-177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Book" panose="02000503020000020003" pitchFamily="2" charset="0"/>
              </a:rPr>
              <a:t>Support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82A30A-709B-B9AC-8B5F-8694077774B9}"/>
              </a:ext>
            </a:extLst>
          </p:cNvPr>
          <p:cNvSpPr/>
          <p:nvPr/>
        </p:nvSpPr>
        <p:spPr>
          <a:xfrm>
            <a:off x="637670" y="5763127"/>
            <a:ext cx="10392001" cy="517357"/>
          </a:xfrm>
          <a:prstGeom prst="rect">
            <a:avLst/>
          </a:prstGeom>
          <a:solidFill>
            <a:srgbClr val="76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D1107D-71AE-B7E9-D8C2-CBC9E46BA834}"/>
              </a:ext>
            </a:extLst>
          </p:cNvPr>
          <p:cNvSpPr txBox="1"/>
          <p:nvPr/>
        </p:nvSpPr>
        <p:spPr>
          <a:xfrm>
            <a:off x="697830" y="5859085"/>
            <a:ext cx="2009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Sales Productivity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FDAA43-85A8-68A4-79C3-CE05F89AAF0E}"/>
              </a:ext>
            </a:extLst>
          </p:cNvPr>
          <p:cNvSpPr txBox="1"/>
          <p:nvPr/>
        </p:nvSpPr>
        <p:spPr>
          <a:xfrm>
            <a:off x="2949017" y="5859085"/>
            <a:ext cx="2486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Personalized Marketing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A90AF1-25F7-E31D-1F7C-F8E321D4136E}"/>
              </a:ext>
            </a:extLst>
          </p:cNvPr>
          <p:cNvSpPr txBox="1"/>
          <p:nvPr/>
        </p:nvSpPr>
        <p:spPr>
          <a:xfrm>
            <a:off x="5677457" y="5859085"/>
            <a:ext cx="2009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Customer Service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FFF437-314B-CB0B-FC45-C384A395DE18}"/>
              </a:ext>
            </a:extLst>
          </p:cNvPr>
          <p:cNvSpPr txBox="1"/>
          <p:nvPr/>
        </p:nvSpPr>
        <p:spPr>
          <a:xfrm>
            <a:off x="7783885" y="5859085"/>
            <a:ext cx="1602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Forecasting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06124A-B0EC-A9BF-11AF-4067A02D9F8B}"/>
              </a:ext>
            </a:extLst>
          </p:cNvPr>
          <p:cNvSpPr txBox="1"/>
          <p:nvPr/>
        </p:nvSpPr>
        <p:spPr>
          <a:xfrm>
            <a:off x="9432207" y="5859085"/>
            <a:ext cx="1602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27675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94E3F-6FB9-C492-2338-87967880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B28F-96D4-936D-55F9-1C7D3828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0176" y="6460957"/>
            <a:ext cx="2486526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32B71-3979-2215-7F15-9ABB66DA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0632" y="6432216"/>
            <a:ext cx="47214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9B85685-BFCF-DD6C-F915-EA9E10BA99D7}"/>
              </a:ext>
            </a:extLst>
          </p:cNvPr>
          <p:cNvSpPr txBox="1">
            <a:spLocks/>
          </p:cNvSpPr>
          <p:nvPr/>
        </p:nvSpPr>
        <p:spPr>
          <a:xfrm>
            <a:off x="323890" y="136524"/>
            <a:ext cx="11489526" cy="1042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85FF"/>
                </a:solidFill>
              </a:rPr>
              <a:t>CRM Entities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24FFA-365A-A2C9-A988-A136F4683F66}"/>
              </a:ext>
            </a:extLst>
          </p:cNvPr>
          <p:cNvSpPr txBox="1"/>
          <p:nvPr/>
        </p:nvSpPr>
        <p:spPr>
          <a:xfrm>
            <a:off x="323890" y="2492676"/>
            <a:ext cx="412512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Entities or tables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Lead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Account – Commit &amp; Launch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Product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Contact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Opportunity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Activity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Case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Campaign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157E0596-FBEB-817B-5595-A5EE27A6040F}"/>
              </a:ext>
            </a:extLst>
          </p:cNvPr>
          <p:cNvSpPr/>
          <p:nvPr/>
        </p:nvSpPr>
        <p:spPr>
          <a:xfrm>
            <a:off x="417175" y="1130977"/>
            <a:ext cx="1612231" cy="124685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Marketing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32B9B86-9D29-2B78-87C2-ADF8B0BBDB7F}"/>
              </a:ext>
            </a:extLst>
          </p:cNvPr>
          <p:cNvSpPr/>
          <p:nvPr/>
        </p:nvSpPr>
        <p:spPr>
          <a:xfrm>
            <a:off x="2579491" y="1130976"/>
            <a:ext cx="1664369" cy="124685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Lead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D37ED51-F5BA-9491-5CF5-12D12923DFB3}"/>
              </a:ext>
            </a:extLst>
          </p:cNvPr>
          <p:cNvSpPr/>
          <p:nvPr/>
        </p:nvSpPr>
        <p:spPr>
          <a:xfrm>
            <a:off x="4797228" y="1130977"/>
            <a:ext cx="1664369" cy="124685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Acquisition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BA5FC9B-01B4-644D-98C2-EB9E3E8C6956}"/>
              </a:ext>
            </a:extLst>
          </p:cNvPr>
          <p:cNvSpPr/>
          <p:nvPr/>
        </p:nvSpPr>
        <p:spPr>
          <a:xfrm>
            <a:off x="7004469" y="1130977"/>
            <a:ext cx="1664369" cy="124685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Conversion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FF4169F-C42E-C813-8EA1-44B4EBCBB799}"/>
              </a:ext>
            </a:extLst>
          </p:cNvPr>
          <p:cNvSpPr/>
          <p:nvPr/>
        </p:nvSpPr>
        <p:spPr>
          <a:xfrm>
            <a:off x="9211710" y="1130977"/>
            <a:ext cx="1664369" cy="124685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Service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1D8DAA-7EDC-3D6D-E87D-EEF50ED69C15}"/>
              </a:ext>
            </a:extLst>
          </p:cNvPr>
          <p:cNvSpPr/>
          <p:nvPr/>
        </p:nvSpPr>
        <p:spPr>
          <a:xfrm>
            <a:off x="5715762" y="4358620"/>
            <a:ext cx="1375056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Lead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7BBDCC3-8752-4781-1E17-4CEE170C6F3D}"/>
              </a:ext>
            </a:extLst>
          </p:cNvPr>
          <p:cNvSpPr/>
          <p:nvPr/>
        </p:nvSpPr>
        <p:spPr>
          <a:xfrm>
            <a:off x="7797667" y="3372283"/>
            <a:ext cx="1375056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Account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3B69E36-9F4D-9B8B-54A1-13A83414D8FA}"/>
              </a:ext>
            </a:extLst>
          </p:cNvPr>
          <p:cNvSpPr/>
          <p:nvPr/>
        </p:nvSpPr>
        <p:spPr>
          <a:xfrm>
            <a:off x="7787239" y="4358620"/>
            <a:ext cx="1375056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Contact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5521E7-3936-E2C6-888E-528235B8CC6E}"/>
              </a:ext>
            </a:extLst>
          </p:cNvPr>
          <p:cNvSpPr/>
          <p:nvPr/>
        </p:nvSpPr>
        <p:spPr>
          <a:xfrm>
            <a:off x="7787238" y="5419389"/>
            <a:ext cx="1375057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Opportunity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05CE527-FD4A-E3FC-BEEC-292A968D8528}"/>
              </a:ext>
            </a:extLst>
          </p:cNvPr>
          <p:cNvCxnSpPr>
            <a:cxnSpLocks/>
            <a:stCxn id="9" idx="0"/>
            <a:endCxn id="10" idx="1"/>
          </p:cNvCxnSpPr>
          <p:nvPr/>
        </p:nvCxnSpPr>
        <p:spPr>
          <a:xfrm rot="5400000" flipH="1" flipV="1">
            <a:off x="6737568" y="3298522"/>
            <a:ext cx="725820" cy="139437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643C074-9F92-0627-B09E-4A689A6B87BF}"/>
              </a:ext>
            </a:extLst>
          </p:cNvPr>
          <p:cNvCxnSpPr>
            <a:cxnSpLocks/>
            <a:stCxn id="9" idx="2"/>
            <a:endCxn id="12" idx="1"/>
          </p:cNvCxnSpPr>
          <p:nvPr/>
        </p:nvCxnSpPr>
        <p:spPr>
          <a:xfrm rot="16200000" flipH="1">
            <a:off x="6695138" y="4587806"/>
            <a:ext cx="800252" cy="138394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1B4170-A34A-C05D-158D-DA92E39F88EA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090818" y="4619137"/>
            <a:ext cx="696421" cy="0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24812D-F37C-E3FE-F6A8-F01E718A0775}"/>
              </a:ext>
            </a:extLst>
          </p:cNvPr>
          <p:cNvSpPr txBox="1"/>
          <p:nvPr/>
        </p:nvSpPr>
        <p:spPr>
          <a:xfrm>
            <a:off x="6746326" y="3238005"/>
            <a:ext cx="81668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1:1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74BE6-2384-D514-D47C-31B79F15FB7F}"/>
              </a:ext>
            </a:extLst>
          </p:cNvPr>
          <p:cNvSpPr txBox="1"/>
          <p:nvPr/>
        </p:nvSpPr>
        <p:spPr>
          <a:xfrm>
            <a:off x="7168587" y="4245585"/>
            <a:ext cx="5703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1:1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7F35FA-35BF-6BEB-5EE3-B30D96E58C7A}"/>
              </a:ext>
            </a:extLst>
          </p:cNvPr>
          <p:cNvSpPr txBox="1"/>
          <p:nvPr/>
        </p:nvSpPr>
        <p:spPr>
          <a:xfrm>
            <a:off x="6692136" y="5279779"/>
            <a:ext cx="81668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1:1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84EAB1-FC84-01BE-2818-A9E7E242EB2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474767" y="3893317"/>
            <a:ext cx="10428" cy="465303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7828803-507B-95DB-D616-574F8C55A152}"/>
              </a:ext>
            </a:extLst>
          </p:cNvPr>
          <p:cNvSpPr txBox="1"/>
          <p:nvPr/>
        </p:nvSpPr>
        <p:spPr>
          <a:xfrm>
            <a:off x="8428033" y="3977913"/>
            <a:ext cx="5703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1:m</a:t>
            </a: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577CD374-AF64-2748-5AE2-F7B0261884AA}"/>
              </a:ext>
            </a:extLst>
          </p:cNvPr>
          <p:cNvCxnSpPr>
            <a:cxnSpLocks/>
            <a:stCxn id="10" idx="0"/>
            <a:endCxn id="12" idx="2"/>
          </p:cNvCxnSpPr>
          <p:nvPr/>
        </p:nvCxnSpPr>
        <p:spPr>
          <a:xfrm rot="16200000" flipH="1" flipV="1">
            <a:off x="7195911" y="4651139"/>
            <a:ext cx="2568140" cy="10428"/>
          </a:xfrm>
          <a:prstGeom prst="bentConnector5">
            <a:avLst>
              <a:gd name="adj1" fmla="val -8901"/>
              <a:gd name="adj2" fmla="val 28730236"/>
              <a:gd name="adj3" fmla="val 108901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06A76D1-D854-9159-DAA1-665708426A9D}"/>
              </a:ext>
            </a:extLst>
          </p:cNvPr>
          <p:cNvSpPr txBox="1"/>
          <p:nvPr/>
        </p:nvSpPr>
        <p:spPr>
          <a:xfrm>
            <a:off x="4753500" y="4498915"/>
            <a:ext cx="5703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1:m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0276F3D6-36E2-6379-AFEE-58D281732DA3}"/>
              </a:ext>
            </a:extLst>
          </p:cNvPr>
          <p:cNvSpPr/>
          <p:nvPr/>
        </p:nvSpPr>
        <p:spPr>
          <a:xfrm>
            <a:off x="10280694" y="3372283"/>
            <a:ext cx="1375056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Activity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2C930BD-255C-6000-CCDE-59F2EC9D5374}"/>
              </a:ext>
            </a:extLst>
          </p:cNvPr>
          <p:cNvCxnSpPr>
            <a:cxnSpLocks/>
            <a:stCxn id="10" idx="3"/>
            <a:endCxn id="52" idx="1"/>
          </p:cNvCxnSpPr>
          <p:nvPr/>
        </p:nvCxnSpPr>
        <p:spPr>
          <a:xfrm>
            <a:off x="9172723" y="3632800"/>
            <a:ext cx="1107971" cy="0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712110D-A68F-32FE-0F96-E75100A88C91}"/>
              </a:ext>
            </a:extLst>
          </p:cNvPr>
          <p:cNvSpPr txBox="1"/>
          <p:nvPr/>
        </p:nvSpPr>
        <p:spPr>
          <a:xfrm>
            <a:off x="9425760" y="3294246"/>
            <a:ext cx="5703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1:m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B97E8624-39E7-03D7-5FE6-32F984F58D30}"/>
              </a:ext>
            </a:extLst>
          </p:cNvPr>
          <p:cNvSpPr/>
          <p:nvPr/>
        </p:nvSpPr>
        <p:spPr>
          <a:xfrm>
            <a:off x="10262782" y="5417464"/>
            <a:ext cx="1375057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Product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8B37BB1-0326-9C5F-DE74-6D30D361F2C6}"/>
              </a:ext>
            </a:extLst>
          </p:cNvPr>
          <p:cNvCxnSpPr>
            <a:cxnSpLocks/>
            <a:stCxn id="12" idx="3"/>
            <a:endCxn id="75" idx="1"/>
          </p:cNvCxnSpPr>
          <p:nvPr/>
        </p:nvCxnSpPr>
        <p:spPr>
          <a:xfrm flipV="1">
            <a:off x="9162295" y="5677981"/>
            <a:ext cx="1100487" cy="1925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99E1461-5171-D3EA-550B-DDD0E522B335}"/>
              </a:ext>
            </a:extLst>
          </p:cNvPr>
          <p:cNvSpPr txBox="1"/>
          <p:nvPr/>
        </p:nvSpPr>
        <p:spPr>
          <a:xfrm>
            <a:off x="9441546" y="5673972"/>
            <a:ext cx="5703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</a:rPr>
              <a:t>m:n</a:t>
            </a: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031ED70C-331C-EFE5-9C49-1FC0CCD641B5}"/>
              </a:ext>
            </a:extLst>
          </p:cNvPr>
          <p:cNvSpPr/>
          <p:nvPr/>
        </p:nvSpPr>
        <p:spPr>
          <a:xfrm>
            <a:off x="10262783" y="4358619"/>
            <a:ext cx="1375057" cy="52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Proposal</a:t>
            </a:r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7DFE23C4-A351-0FF4-6701-95C325FFE268}"/>
              </a:ext>
            </a:extLst>
          </p:cNvPr>
          <p:cNvCxnSpPr>
            <a:cxnSpLocks/>
          </p:cNvCxnSpPr>
          <p:nvPr/>
        </p:nvCxnSpPr>
        <p:spPr>
          <a:xfrm rot="10800000">
            <a:off x="9198922" y="3752417"/>
            <a:ext cx="1063860" cy="7464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BCA4FC09-7223-1962-59D5-6D1C850C61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71188" y="4739357"/>
            <a:ext cx="1091594" cy="81826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F5E07BE-D9C0-43AD-D6AA-131F94105CFF}"/>
              </a:ext>
            </a:extLst>
          </p:cNvPr>
          <p:cNvCxnSpPr>
            <a:cxnSpLocks/>
            <a:stCxn id="11" idx="3"/>
            <a:endCxn id="80" idx="1"/>
          </p:cNvCxnSpPr>
          <p:nvPr/>
        </p:nvCxnSpPr>
        <p:spPr>
          <a:xfrm flipV="1">
            <a:off x="9162295" y="4619136"/>
            <a:ext cx="1100488" cy="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812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62F0F-0CB3-676B-543B-308ED5A9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7C82B-666D-BD25-E3D9-B53F968B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0176" y="6460957"/>
            <a:ext cx="2486526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62DD6-5540-F5F0-4874-042075BB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0632" y="6432216"/>
            <a:ext cx="47214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B9413D5-99AD-2163-26C5-1808877D6EB5}"/>
              </a:ext>
            </a:extLst>
          </p:cNvPr>
          <p:cNvSpPr txBox="1">
            <a:spLocks/>
          </p:cNvSpPr>
          <p:nvPr/>
        </p:nvSpPr>
        <p:spPr>
          <a:xfrm>
            <a:off x="323890" y="136524"/>
            <a:ext cx="11489526" cy="1042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85FF"/>
                </a:solidFill>
              </a:rPr>
              <a:t>CRM Entities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52F4C9-B581-6D03-5A1B-CF208090A5A8}"/>
              </a:ext>
            </a:extLst>
          </p:cNvPr>
          <p:cNvSpPr/>
          <p:nvPr/>
        </p:nvSpPr>
        <p:spPr>
          <a:xfrm>
            <a:off x="523378" y="1684424"/>
            <a:ext cx="1455821" cy="6015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Campaign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44B6F7-B6A6-89A1-9825-38F29FB3DB66}"/>
              </a:ext>
            </a:extLst>
          </p:cNvPr>
          <p:cNvSpPr/>
          <p:nvPr/>
        </p:nvSpPr>
        <p:spPr>
          <a:xfrm>
            <a:off x="796094" y="2177718"/>
            <a:ext cx="1455821" cy="6015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Campaign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0F3ABE-BFAE-2E1C-D4C1-544EE65F7713}"/>
              </a:ext>
            </a:extLst>
          </p:cNvPr>
          <p:cNvSpPr/>
          <p:nvPr/>
        </p:nvSpPr>
        <p:spPr>
          <a:xfrm>
            <a:off x="2699088" y="2177717"/>
            <a:ext cx="1455821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Lead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1DC9BD-3417-3A83-D9C3-3353464FBF28}"/>
              </a:ext>
            </a:extLst>
          </p:cNvPr>
          <p:cNvSpPr/>
          <p:nvPr/>
        </p:nvSpPr>
        <p:spPr>
          <a:xfrm>
            <a:off x="2971804" y="2658984"/>
            <a:ext cx="1455821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Lead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B20197-0295-8F51-34C9-90CB5F070661}"/>
              </a:ext>
            </a:extLst>
          </p:cNvPr>
          <p:cNvSpPr/>
          <p:nvPr/>
        </p:nvSpPr>
        <p:spPr>
          <a:xfrm>
            <a:off x="4874798" y="2658984"/>
            <a:ext cx="1455821" cy="6015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Account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20FEAC-03E3-75F8-2D29-2589CA32B8BD}"/>
              </a:ext>
            </a:extLst>
          </p:cNvPr>
          <p:cNvSpPr/>
          <p:nvPr/>
        </p:nvSpPr>
        <p:spPr>
          <a:xfrm>
            <a:off x="5063293" y="3188375"/>
            <a:ext cx="1455821" cy="6015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Account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BFF0E6-8FE6-157D-3538-B0407BF84CE7}"/>
              </a:ext>
            </a:extLst>
          </p:cNvPr>
          <p:cNvSpPr/>
          <p:nvPr/>
        </p:nvSpPr>
        <p:spPr>
          <a:xfrm>
            <a:off x="7000376" y="3188375"/>
            <a:ext cx="1455821" cy="6015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Opportunity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CC4407-20C4-04DE-CC29-06A85898AB74}"/>
              </a:ext>
            </a:extLst>
          </p:cNvPr>
          <p:cNvSpPr/>
          <p:nvPr/>
        </p:nvSpPr>
        <p:spPr>
          <a:xfrm>
            <a:off x="7188871" y="3717766"/>
            <a:ext cx="1455821" cy="6015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Opportunity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28238F-F3F4-CA62-9494-409102FA02A0}"/>
              </a:ext>
            </a:extLst>
          </p:cNvPr>
          <p:cNvSpPr/>
          <p:nvPr/>
        </p:nvSpPr>
        <p:spPr>
          <a:xfrm>
            <a:off x="7000376" y="4752487"/>
            <a:ext cx="1644315" cy="4331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Product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5AB128-A886-8E27-BF40-B8694B6E399B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7822534" y="4319345"/>
            <a:ext cx="0" cy="433142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56657DE-1C28-352E-C548-9115AD93C8F3}"/>
              </a:ext>
            </a:extLst>
          </p:cNvPr>
          <p:cNvSpPr/>
          <p:nvPr/>
        </p:nvSpPr>
        <p:spPr>
          <a:xfrm>
            <a:off x="2699088" y="5498458"/>
            <a:ext cx="5945604" cy="4331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Activity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5269DE1-BA6D-1760-F0AA-172313B79002}"/>
              </a:ext>
            </a:extLst>
          </p:cNvPr>
          <p:cNvCxnSpPr>
            <a:cxnSpLocks/>
          </p:cNvCxnSpPr>
          <p:nvPr/>
        </p:nvCxnSpPr>
        <p:spPr>
          <a:xfrm flipV="1">
            <a:off x="5640808" y="3789954"/>
            <a:ext cx="0" cy="1708504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751F44-EF2F-A34B-87C3-4FEDDA847096}"/>
              </a:ext>
            </a:extLst>
          </p:cNvPr>
          <p:cNvCxnSpPr>
            <a:cxnSpLocks/>
          </p:cNvCxnSpPr>
          <p:nvPr/>
        </p:nvCxnSpPr>
        <p:spPr>
          <a:xfrm flipV="1">
            <a:off x="3663618" y="3260563"/>
            <a:ext cx="0" cy="2237895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0D03CDE1-0A66-9E88-39B1-0E4302EEB0D1}"/>
              </a:ext>
            </a:extLst>
          </p:cNvPr>
          <p:cNvCxnSpPr>
            <a:endCxn id="30" idx="1"/>
          </p:cNvCxnSpPr>
          <p:nvPr/>
        </p:nvCxnSpPr>
        <p:spPr>
          <a:xfrm rot="5400000" flipH="1" flipV="1">
            <a:off x="6114041" y="4423629"/>
            <a:ext cx="1479902" cy="669757"/>
          </a:xfrm>
          <a:prstGeom prst="bentConnector2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C5B5AFF-3902-6144-C43B-C9301B6C25E3}"/>
              </a:ext>
            </a:extLst>
          </p:cNvPr>
          <p:cNvSpPr/>
          <p:nvPr/>
        </p:nvSpPr>
        <p:spPr>
          <a:xfrm>
            <a:off x="7000375" y="1600201"/>
            <a:ext cx="1455821" cy="6015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Case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5805B0-FE65-82ED-94B3-3428C89AF2F8}"/>
              </a:ext>
            </a:extLst>
          </p:cNvPr>
          <p:cNvSpPr/>
          <p:nvPr/>
        </p:nvSpPr>
        <p:spPr>
          <a:xfrm>
            <a:off x="7188871" y="2105529"/>
            <a:ext cx="1455821" cy="6015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Case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904BB14C-E42C-492C-AA28-B4E4C1593735}"/>
              </a:ext>
            </a:extLst>
          </p:cNvPr>
          <p:cNvCxnSpPr>
            <a:stCxn id="26" idx="0"/>
            <a:endCxn id="54" idx="1"/>
          </p:cNvCxnSpPr>
          <p:nvPr/>
        </p:nvCxnSpPr>
        <p:spPr>
          <a:xfrm rot="5400000" flipH="1" flipV="1">
            <a:off x="5922546" y="1581155"/>
            <a:ext cx="757993" cy="1397666"/>
          </a:xfrm>
          <a:prstGeom prst="bentConnector2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D1944718-BB37-AE4C-432B-C1E8B3E53305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5791203" y="2406319"/>
            <a:ext cx="1397668" cy="248741"/>
          </a:xfrm>
          <a:prstGeom prst="bentConnector3">
            <a:avLst>
              <a:gd name="adj1" fmla="val 933"/>
            </a:avLst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62C3E42-DD61-59CE-A984-C94B3593369F}"/>
              </a:ext>
            </a:extLst>
          </p:cNvPr>
          <p:cNvSpPr txBox="1"/>
          <p:nvPr/>
        </p:nvSpPr>
        <p:spPr>
          <a:xfrm>
            <a:off x="5380121" y="1312291"/>
            <a:ext cx="1431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Launched Accounts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95BA18EE-A52B-9AA1-F6DE-BBB082D1A088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44669" y="3110169"/>
            <a:ext cx="618624" cy="378996"/>
          </a:xfrm>
          <a:prstGeom prst="bentConnector3">
            <a:avLst>
              <a:gd name="adj1" fmla="val 50000"/>
            </a:avLst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8C8819D1-50D7-32CE-B268-6C8C7E4C296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2258933" y="2640933"/>
            <a:ext cx="712871" cy="318841"/>
          </a:xfrm>
          <a:prstGeom prst="bentConnector3">
            <a:avLst>
              <a:gd name="adj1" fmla="val 29747"/>
            </a:avLst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CE25976-6F59-F94C-A3AF-495CDE4228C3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251915" y="2478507"/>
            <a:ext cx="447173" cy="1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D7C592C-B4B2-3F45-57F2-80EA3CE934D6}"/>
              </a:ext>
            </a:extLst>
          </p:cNvPr>
          <p:cNvCxnSpPr>
            <a:cxnSpLocks/>
          </p:cNvCxnSpPr>
          <p:nvPr/>
        </p:nvCxnSpPr>
        <p:spPr>
          <a:xfrm flipV="1">
            <a:off x="4427625" y="2953745"/>
            <a:ext cx="447173" cy="1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294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12BDD-45A6-AAB4-DD3F-26F6663B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C3BA0-0BAB-7DD2-8DEB-94F50EFB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0176" y="6460957"/>
            <a:ext cx="2486526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31E00-A031-8FB9-4E9C-3BFAC019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7345" y="6460956"/>
            <a:ext cx="47214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C7063B-8150-B45F-6122-A164863C4962}"/>
              </a:ext>
            </a:extLst>
          </p:cNvPr>
          <p:cNvSpPr txBox="1">
            <a:spLocks/>
          </p:cNvSpPr>
          <p:nvPr/>
        </p:nvSpPr>
        <p:spPr>
          <a:xfrm>
            <a:off x="323890" y="136524"/>
            <a:ext cx="11489526" cy="1042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85FF"/>
                </a:solidFill>
              </a:rPr>
              <a:t>Datasets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6E3A6-463A-F4EA-F3EE-BD614BCB4FB8}"/>
              </a:ext>
            </a:extLst>
          </p:cNvPr>
          <p:cNvSpPr txBox="1"/>
          <p:nvPr/>
        </p:nvSpPr>
        <p:spPr>
          <a:xfrm>
            <a:off x="323888" y="1212650"/>
            <a:ext cx="610918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Total Size –  38 GB (Uncompressed)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No. of Files – 82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crm_activity_data_X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 to 20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crm_opportunity_data_X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 to 20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crm_account_commit_data_X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 to 10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crm_account_launch_data_X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 to 10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crm_lead_data_X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 to 10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crm_product_data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crm_campaign_data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crm_case_data_X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: 1 to 10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BF488-1FFF-F518-AAE7-EE303B627F17}"/>
              </a:ext>
            </a:extLst>
          </p:cNvPr>
          <p:cNvSpPr/>
          <p:nvPr/>
        </p:nvSpPr>
        <p:spPr>
          <a:xfrm>
            <a:off x="5957048" y="2763480"/>
            <a:ext cx="907657" cy="49811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File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A00518F1-09F8-17DD-903F-46815A54C177}"/>
              </a:ext>
            </a:extLst>
          </p:cNvPr>
          <p:cNvSpPr/>
          <p:nvPr/>
        </p:nvSpPr>
        <p:spPr>
          <a:xfrm>
            <a:off x="8836727" y="2695186"/>
            <a:ext cx="1021977" cy="634701"/>
          </a:xfrm>
          <a:prstGeom prst="can">
            <a:avLst>
              <a:gd name="adj" fmla="val 3516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1DCE1B-E479-5EE0-93E1-75211A90EE7B}"/>
              </a:ext>
            </a:extLst>
          </p:cNvPr>
          <p:cNvSpPr/>
          <p:nvPr/>
        </p:nvSpPr>
        <p:spPr>
          <a:xfrm>
            <a:off x="10472538" y="2763479"/>
            <a:ext cx="1021978" cy="49811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PySpark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DF440-9F50-9164-4602-BDD17F43F8E2}"/>
              </a:ext>
            </a:extLst>
          </p:cNvPr>
          <p:cNvSpPr/>
          <p:nvPr/>
        </p:nvSpPr>
        <p:spPr>
          <a:xfrm>
            <a:off x="7375694" y="2695186"/>
            <a:ext cx="1021978" cy="6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PySpark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Lambda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592795-97AC-096D-0150-D8A850FA43F1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6864705" y="3012537"/>
            <a:ext cx="510989" cy="0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3164C7-E65A-DD5C-67EB-9F0066775551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8397672" y="3012536"/>
            <a:ext cx="439055" cy="1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639C24-C820-4F1C-ED38-4317B80C9506}"/>
              </a:ext>
            </a:extLst>
          </p:cNvPr>
          <p:cNvCxnSpPr>
            <a:cxnSpLocks/>
            <a:stCxn id="3" idx="4"/>
            <a:endCxn id="4" idx="1"/>
          </p:cNvCxnSpPr>
          <p:nvPr/>
        </p:nvCxnSpPr>
        <p:spPr>
          <a:xfrm flipV="1">
            <a:off x="9858704" y="3012536"/>
            <a:ext cx="613834" cy="1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28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1A72E-E574-275C-353B-226A8B7A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92877-E789-5249-6D63-697E5161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4CDA6-DD94-2C0A-37DF-7459A970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6CE1F-4A67-48B1-C9F9-396A924A12BB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solidFill>
                  <a:srgbClr val="FF85FF"/>
                </a:soli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Entity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D54B72-9CB3-9C76-814C-CB703CADD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14008"/>
              </p:ext>
            </p:extLst>
          </p:nvPr>
        </p:nvGraphicFramePr>
        <p:xfrm>
          <a:off x="426710" y="1650840"/>
          <a:ext cx="6323006" cy="4836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27732">
                  <a:extLst>
                    <a:ext uri="{9D8B030D-6E8A-4147-A177-3AD203B41FA5}">
                      <a16:colId xmlns:a16="http://schemas.microsoft.com/office/drawing/2014/main" val="164717755"/>
                    </a:ext>
                  </a:extLst>
                </a:gridCol>
                <a:gridCol w="4295274">
                  <a:extLst>
                    <a:ext uri="{9D8B030D-6E8A-4147-A177-3AD203B41FA5}">
                      <a16:colId xmlns:a16="http://schemas.microsoft.com/office/drawing/2014/main" val="971510276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24734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lead_id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System generated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17079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customer_org_name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Org name for CRM 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73265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customer_org_sector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Private, Public, FinTech, Finance, Auto, NPO, Govt, Enterprise,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DigitalNative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Startup, LLC,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InvestmentBank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RetailBank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ConsumerRetail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FoodTech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Games, Education,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PublicSectorFinance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PublicDefence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PrivateDefence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GovtThinkTank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PrivateThinkTank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PrivateHospital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PublicHealth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074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lead_source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From where lead was generated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3973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lead_status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Current status of the lead.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Unqualified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qualified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verification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bus-validation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tech-validation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committed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launched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0593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sales_rep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Unique id of sales representative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54791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sales_rep_country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Country of sales rep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6347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created_date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When the lead was created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55999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conversion_date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Status change of the 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92352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7BFD414-44A0-C88C-6536-C951035754C1}"/>
              </a:ext>
            </a:extLst>
          </p:cNvPr>
          <p:cNvSpPr/>
          <p:nvPr/>
        </p:nvSpPr>
        <p:spPr>
          <a:xfrm>
            <a:off x="2497221" y="1249649"/>
            <a:ext cx="1925052" cy="388641"/>
          </a:xfrm>
          <a:prstGeom prst="rect">
            <a:avLst/>
          </a:prstGeom>
          <a:solidFill>
            <a:srgbClr val="FF8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 pitchFamily="2" charset="0"/>
              </a:rPr>
              <a:t>crm_lead</a:t>
            </a:r>
            <a:endParaRPr lang="en-US" dirty="0">
              <a:latin typeface="Avenir Book" panose="02000503020000020003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1D116CD-D200-1A15-D584-5F2493302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079134"/>
              </p:ext>
            </p:extLst>
          </p:nvPr>
        </p:nvGraphicFramePr>
        <p:xfrm>
          <a:off x="7091689" y="1693828"/>
          <a:ext cx="4721727" cy="35356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49927">
                  <a:extLst>
                    <a:ext uri="{9D8B030D-6E8A-4147-A177-3AD203B41FA5}">
                      <a16:colId xmlns:a16="http://schemas.microsoft.com/office/drawing/2014/main" val="60110763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133485186"/>
                    </a:ext>
                  </a:extLst>
                </a:gridCol>
              </a:tblGrid>
              <a:tr h="206377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079"/>
                  </a:ext>
                </a:extLst>
              </a:tr>
              <a:tr h="206377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product_id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Unique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314857"/>
                  </a:ext>
                </a:extLst>
              </a:tr>
              <a:tr h="318262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product_category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'Product’, 'Service’, 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OnDemandTechnology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20257"/>
                  </a:ext>
                </a:extLst>
              </a:tr>
              <a:tr h="842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product_name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FinanceRoll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’, 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PaymentGateway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’,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ClaimProcessing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 , 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MobiPay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’, 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eWallet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’, 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RegTech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Development','Testing','DBA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’, 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DataEngineer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','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MLEngineer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’.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PaaS','IaaS','SaaS','Serverless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'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42065"/>
                  </a:ext>
                </a:extLst>
              </a:tr>
              <a:tr h="3182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product_unit_sku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LicensePerUser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ManHours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PricePerHour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786838"/>
                  </a:ext>
                </a:extLst>
              </a:tr>
              <a:tr h="187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product_unit_price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Based on category and name.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69827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E9CBB87-7A45-708A-CCC3-1BBA9CB1CC18}"/>
              </a:ext>
            </a:extLst>
          </p:cNvPr>
          <p:cNvSpPr/>
          <p:nvPr/>
        </p:nvSpPr>
        <p:spPr>
          <a:xfrm>
            <a:off x="8490026" y="1288776"/>
            <a:ext cx="1925052" cy="388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 pitchFamily="2" charset="0"/>
              </a:rPr>
              <a:t>crm_product</a:t>
            </a:r>
            <a:endParaRPr 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43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99236-5D9C-5003-AC53-9B22535E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67A4E-B32F-C306-F0FA-AE0520B2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1769C-17BA-AC61-9C0C-FB46953C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D8896-8BE1-23E1-F23E-9B3DCD610B12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solidFill>
                  <a:srgbClr val="FF85FF"/>
                </a:soli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Entity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90224C-AC26-88FD-455D-F723D739A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34249"/>
              </p:ext>
            </p:extLst>
          </p:nvPr>
        </p:nvGraphicFramePr>
        <p:xfrm>
          <a:off x="426710" y="1650840"/>
          <a:ext cx="4482174" cy="3962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17726">
                  <a:extLst>
                    <a:ext uri="{9D8B030D-6E8A-4147-A177-3AD203B41FA5}">
                      <a16:colId xmlns:a16="http://schemas.microsoft.com/office/drawing/2014/main" val="164717755"/>
                    </a:ext>
                  </a:extLst>
                </a:gridCol>
                <a:gridCol w="2664448">
                  <a:extLst>
                    <a:ext uri="{9D8B030D-6E8A-4147-A177-3AD203B41FA5}">
                      <a16:colId xmlns:a16="http://schemas.microsoft.com/office/drawing/2014/main" val="971510276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24734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opp_id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Unique identifier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17079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opp_name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Name of the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opp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73265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acc_id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Account the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opp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is linked with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074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acc_open_date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When opportunity was opened in CRM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3973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acc_close_date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opportunity close date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0593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opp_product_id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Product used in the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opp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54791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opp_product_unit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LicensePerUser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ManHours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PricePerHour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6347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opp_product_spent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No. of licenses</a:t>
                      </a:r>
                    </a:p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No. of man-hours</a:t>
                      </a:r>
                    </a:p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No. of hours spent in the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opp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559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</a:rPr>
                        <a:t>opp_status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Commit or Launched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92352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F0C72D1-73BD-D80B-6242-C1F503954992}"/>
              </a:ext>
            </a:extLst>
          </p:cNvPr>
          <p:cNvSpPr/>
          <p:nvPr/>
        </p:nvSpPr>
        <p:spPr>
          <a:xfrm>
            <a:off x="1505143" y="1262199"/>
            <a:ext cx="2325308" cy="388641"/>
          </a:xfrm>
          <a:prstGeom prst="rect">
            <a:avLst/>
          </a:prstGeom>
          <a:solidFill>
            <a:srgbClr val="FF8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 pitchFamily="2" charset="0"/>
              </a:rPr>
              <a:t>crm_opportunity</a:t>
            </a:r>
            <a:endParaRPr lang="en-US" dirty="0">
              <a:latin typeface="Avenir Book" panose="02000503020000020003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752DA6-659E-AAEF-8900-AAA653D2A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728845"/>
              </p:ext>
            </p:extLst>
          </p:nvPr>
        </p:nvGraphicFramePr>
        <p:xfrm>
          <a:off x="5288547" y="1650840"/>
          <a:ext cx="6694906" cy="4665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363537">
                  <a:extLst>
                    <a:ext uri="{9D8B030D-6E8A-4147-A177-3AD203B41FA5}">
                      <a16:colId xmlns:a16="http://schemas.microsoft.com/office/drawing/2014/main" val="601107637"/>
                    </a:ext>
                  </a:extLst>
                </a:gridCol>
                <a:gridCol w="4331369">
                  <a:extLst>
                    <a:ext uri="{9D8B030D-6E8A-4147-A177-3AD203B41FA5}">
                      <a16:colId xmlns:a16="http://schemas.microsoft.com/office/drawing/2014/main" val="1133485186"/>
                    </a:ext>
                  </a:extLst>
                </a:gridCol>
              </a:tblGrid>
              <a:tr h="336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079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account_id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Unique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314857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account_name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Org name for CRM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20257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account_industry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venir Book" panose="02000503020000020003" pitchFamily="2" charset="0"/>
                        </a:rPr>
                        <a:t>Private, Public, FinTech, Finance, Auto, NPO, Govt, Enterprise,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DigitalNative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Startup, LLC,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InvestmentBank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RetailBank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ConsumerRetail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FoodTech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Games, Education,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PublicSectorFinance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PublicDefence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PrivateDefence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GovtThinkTank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PrivateThinkTank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PrivateHospital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PublicHealth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42065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account_poc_start_date</a:t>
                      </a:r>
                      <a:r>
                        <a:rPr lang="en-IN" sz="140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 (only for Commit account)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Start date of POC.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786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account_owner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Based on category and name. Sales Rep of Opp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698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account_launch_date</a:t>
                      </a:r>
                      <a:r>
                        <a:rPr lang="en-IN" sz="140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 (</a:t>
                      </a:r>
                      <a:r>
                        <a:rPr lang="en-IN" sz="1400" kern="1200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only for Launched account)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When the account was launched.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37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account_projected_annual_revenue</a:t>
                      </a:r>
                      <a:r>
                        <a:rPr lang="en-IN" sz="140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 (only for Launched account)</a:t>
                      </a:r>
                      <a:endParaRPr lang="en-IN" sz="140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Projected revenue of the account.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81824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3CECB22-64BB-49DF-C55D-6A67DBE6D6AC}"/>
              </a:ext>
            </a:extLst>
          </p:cNvPr>
          <p:cNvSpPr/>
          <p:nvPr/>
        </p:nvSpPr>
        <p:spPr>
          <a:xfrm>
            <a:off x="7648074" y="1250324"/>
            <a:ext cx="1925052" cy="388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crm_account</a:t>
            </a:r>
            <a:endParaRPr lang="en-US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03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F093E-B573-EC00-E630-AE0C41C5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665D-9E9B-EEBB-6CE5-2861AE8F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B740-CB81-CD31-8E18-ADDEB891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2D16F-44DA-FEA8-0B38-91E852C94235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solidFill>
                  <a:srgbClr val="FF85FF"/>
                </a:soli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Entity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05B29-7692-FF8C-3438-FFA7628A8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716122"/>
              </p:ext>
            </p:extLst>
          </p:nvPr>
        </p:nvGraphicFramePr>
        <p:xfrm>
          <a:off x="6041637" y="1497774"/>
          <a:ext cx="5950027" cy="4623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27732">
                  <a:extLst>
                    <a:ext uri="{9D8B030D-6E8A-4147-A177-3AD203B41FA5}">
                      <a16:colId xmlns:a16="http://schemas.microsoft.com/office/drawing/2014/main" val="164717755"/>
                    </a:ext>
                  </a:extLst>
                </a:gridCol>
                <a:gridCol w="3922295">
                  <a:extLst>
                    <a:ext uri="{9D8B030D-6E8A-4147-A177-3AD203B41FA5}">
                      <a16:colId xmlns:a16="http://schemas.microsoft.com/office/drawing/2014/main" val="971510276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24734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activity_id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Unique ID with Link Opp ID.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17079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link_opp_id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Opp ID for this activity.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73265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lead_acc_opp_flag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”L” or “A” or “O”.</a:t>
                      </a:r>
                    </a:p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If “O” – Use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link_opp_id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to link activity with Opportunity.</a:t>
                      </a:r>
                    </a:p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If “A” – Use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acc_id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with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opp_id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to link activity with Account.</a:t>
                      </a:r>
                    </a:p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If “L” – Use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acc_id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from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opp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table and </a:t>
                      </a:r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acc_owner</a:t>
                      </a:r>
                      <a:r>
                        <a:rPr lang="en-US" sz="1400" dirty="0">
                          <a:latin typeface="Avenir Book" panose="02000503020000020003" pitchFamily="2" charset="0"/>
                        </a:rPr>
                        <a:t> from account table to link activity with Lead.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074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activity_type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“email”, “meeting”, ”phone”, “code”, “unit-test”, “integration-test”, “design”, “planning”, “architecture”, “troubleshoot”, “break-fix”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3973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activity_status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“open”, “closed”, “cancelled”, “acknowledged”, “working”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0593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activity_open_date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Activity opened.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54791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activity_close_date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Activity closed.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63471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7E7BFBB-B4F9-74DB-E09D-B3541F5174C4}"/>
              </a:ext>
            </a:extLst>
          </p:cNvPr>
          <p:cNvSpPr/>
          <p:nvPr/>
        </p:nvSpPr>
        <p:spPr>
          <a:xfrm>
            <a:off x="8042890" y="1109133"/>
            <a:ext cx="1925052" cy="388641"/>
          </a:xfrm>
          <a:prstGeom prst="rect">
            <a:avLst/>
          </a:prstGeom>
          <a:solidFill>
            <a:srgbClr val="FF8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 pitchFamily="2" charset="0"/>
              </a:rPr>
              <a:t>crm_activity</a:t>
            </a:r>
            <a:endParaRPr lang="en-US" dirty="0">
              <a:latin typeface="Avenir Book" panose="02000503020000020003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D6F3600-99E3-0332-EB25-B154D47B0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504028"/>
              </p:ext>
            </p:extLst>
          </p:nvPr>
        </p:nvGraphicFramePr>
        <p:xfrm>
          <a:off x="344739" y="1637692"/>
          <a:ext cx="5334166" cy="2288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508124">
                  <a:extLst>
                    <a:ext uri="{9D8B030D-6E8A-4147-A177-3AD203B41FA5}">
                      <a16:colId xmlns:a16="http://schemas.microsoft.com/office/drawing/2014/main" val="601107637"/>
                    </a:ext>
                  </a:extLst>
                </a:gridCol>
                <a:gridCol w="3826042">
                  <a:extLst>
                    <a:ext uri="{9D8B030D-6E8A-4147-A177-3AD203B41FA5}">
                      <a16:colId xmlns:a16="http://schemas.microsoft.com/office/drawing/2014/main" val="1133485186"/>
                    </a:ext>
                  </a:extLst>
                </a:gridCol>
              </a:tblGrid>
              <a:tr h="3360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079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campaign_id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Unique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314857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campaign_type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MarketingEvent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DirectOutreach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TradeShow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WebForm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EmailMarketing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OnlineAd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Referral,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OnlineContent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UserEvent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DeveloperEvent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PaperAd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AppMarketplace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20257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campaign_date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Date of event.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42065"/>
                  </a:ext>
                </a:extLst>
              </a:tr>
              <a:tr h="33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campaign_cost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Money spent on the campaign event.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78683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787972C-9D63-0C02-2477-89DB3E0DBD61}"/>
              </a:ext>
            </a:extLst>
          </p:cNvPr>
          <p:cNvSpPr/>
          <p:nvPr/>
        </p:nvSpPr>
        <p:spPr>
          <a:xfrm>
            <a:off x="2049296" y="1249051"/>
            <a:ext cx="1925052" cy="388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 pitchFamily="2" charset="0"/>
              </a:rPr>
              <a:t>crm_campaign</a:t>
            </a:r>
            <a:endParaRPr 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412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B0E33-072D-0E84-087F-DF851477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6624-CB6B-8F66-3838-6BD2EBC5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AC8F6-1318-5F44-7A0C-360647FA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461E7-F6D7-179F-B657-AA9C5BA2A246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solidFill>
                  <a:srgbClr val="FF85FF"/>
                </a:soli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Entity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0E06F1-6E91-2F34-B6BF-9F8691F6B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668909"/>
              </p:ext>
            </p:extLst>
          </p:nvPr>
        </p:nvGraphicFramePr>
        <p:xfrm>
          <a:off x="426709" y="1650840"/>
          <a:ext cx="10927091" cy="252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854183">
                  <a:extLst>
                    <a:ext uri="{9D8B030D-6E8A-4147-A177-3AD203B41FA5}">
                      <a16:colId xmlns:a16="http://schemas.microsoft.com/office/drawing/2014/main" val="164717755"/>
                    </a:ext>
                  </a:extLst>
                </a:gridCol>
                <a:gridCol w="8072908">
                  <a:extLst>
                    <a:ext uri="{9D8B030D-6E8A-4147-A177-3AD203B41FA5}">
                      <a16:colId xmlns:a16="http://schemas.microsoft.com/office/drawing/2014/main" val="971510276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4734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Unique ID.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17079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case_status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New, Working, L1, L2, L3, L4 Escalated, Waiting on Customer, Waiting on Support, Closed.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73265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case_priority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P0, P1, P2, P3, P4.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074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case_account_id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Account to which the case is related to.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3973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case_origin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Ticket, Email, Chat, Phone, Text.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0593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case_sla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1 to 15 days.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54791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venir Book" panose="02000503020000020003" pitchFamily="2" charset="0"/>
                        </a:rPr>
                        <a:t>case_rating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venir Book" panose="02000503020000020003" pitchFamily="2" charset="0"/>
                        </a:rPr>
                        <a:t>Rating provided by customer on CLOSED cases. 1 (Lowest) to 10 (Highest).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63471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DFD0422-AF9E-24BF-468B-1CD4F1471C60}"/>
              </a:ext>
            </a:extLst>
          </p:cNvPr>
          <p:cNvSpPr/>
          <p:nvPr/>
        </p:nvSpPr>
        <p:spPr>
          <a:xfrm>
            <a:off x="3714545" y="1262199"/>
            <a:ext cx="1925052" cy="388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 pitchFamily="2" charset="0"/>
              </a:rPr>
              <a:t>crm_case</a:t>
            </a:r>
            <a:endParaRPr 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61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41100-B226-08FF-B317-971B2ACD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9FECCD-6D93-DBBE-91DA-58AF899B3A86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Problem Statements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9F8EB-248E-2DCA-3770-BE75341BD098}"/>
              </a:ext>
            </a:extLst>
          </p:cNvPr>
          <p:cNvSpPr txBox="1"/>
          <p:nvPr/>
        </p:nvSpPr>
        <p:spPr>
          <a:xfrm>
            <a:off x="323889" y="1262199"/>
            <a:ext cx="114895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are the top 5 products that had the highest no of POCs and highest spent during the POCs.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Top 5 products that are used the most across different sectors, month-on-month (MOM).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total product spent (across all products) attainment MOM against projected revenue. Attainment = (product spent YTD) * 100/((projected revenue of acc/12) * </a:t>
            </a:r>
            <a:r>
              <a:rPr lang="en-US" dirty="0" err="1">
                <a:solidFill>
                  <a:srgbClr val="000000"/>
                </a:solidFill>
                <a:latin typeface="Avenir Book" panose="02000503020000020003" pitchFamily="2" charset="0"/>
              </a:rPr>
              <a:t>no_of_months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 considered in YTD).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Total spent for each product over the years (Year-on-Year) across customer sectors.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Distribution of product category across account industries.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Average POC days (</a:t>
            </a:r>
            <a:r>
              <a:rPr lang="en-IN" dirty="0" err="1">
                <a:solidFill>
                  <a:schemeClr val="dk1"/>
                </a:solidFill>
                <a:latin typeface="Avenir Book" panose="02000503020000020003" pitchFamily="2" charset="0"/>
              </a:rPr>
              <a:t>opp_product_id</a:t>
            </a:r>
            <a:r>
              <a:rPr lang="en-IN" dirty="0">
                <a:solidFill>
                  <a:schemeClr val="dk1"/>
                </a:solidFill>
                <a:latin typeface="Avenir Book" panose="02000503020000020003" pitchFamily="2" charset="0"/>
              </a:rPr>
              <a:t> of opportunity table when </a:t>
            </a:r>
            <a:r>
              <a:rPr lang="en-IN" dirty="0" err="1">
                <a:solidFill>
                  <a:schemeClr val="dk1"/>
                </a:solidFill>
                <a:latin typeface="Avenir Book" panose="02000503020000020003" pitchFamily="2" charset="0"/>
              </a:rPr>
              <a:t>opp_status</a:t>
            </a:r>
            <a:r>
              <a:rPr lang="en-IN" dirty="0">
                <a:solidFill>
                  <a:schemeClr val="dk1"/>
                </a:solidFill>
                <a:latin typeface="Avenir Book" panose="02000503020000020003" pitchFamily="2" charset="0"/>
              </a:rPr>
              <a:t> is “commit” - </a:t>
            </a:r>
            <a:r>
              <a:rPr lang="en-US" dirty="0" err="1">
                <a:solidFill>
                  <a:srgbClr val="000000"/>
                </a:solidFill>
                <a:latin typeface="Avenir Book" panose="02000503020000020003" pitchFamily="2" charset="0"/>
              </a:rPr>
              <a:t>account_poc_start_date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 of account table) for each product.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customers are exploring Cloud technologies (Category - </a:t>
            </a:r>
            <a:r>
              <a:rPr lang="en-IN" dirty="0" err="1">
                <a:solidFill>
                  <a:schemeClr val="dk1"/>
                </a:solidFill>
                <a:latin typeface="Avenir Book" panose="02000503020000020003" pitchFamily="2" charset="0"/>
              </a:rPr>
              <a:t>OnDemandTechnology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) in their POCs.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month-on-month attainment against projected revenue of each account over the years.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top 3 product and their categories are most famous each year based on revenue. Also, country-wise.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country uses the highest “Service” based product each year?</a:t>
            </a:r>
          </a:p>
        </p:txBody>
      </p:sp>
    </p:spTree>
    <p:extLst>
      <p:ext uri="{BB962C8B-B14F-4D97-AF65-F5344CB8AC3E}">
        <p14:creationId xmlns:p14="http://schemas.microsoft.com/office/powerpoint/2010/main" val="365751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1BA11-6BF7-9B14-52A1-D758A1661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782F82-6EB9-02E5-5419-0A5C4C5425F8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Problem Statements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DFC35-63C4-05E0-6B5D-736AE51B5AE0}"/>
              </a:ext>
            </a:extLst>
          </p:cNvPr>
          <p:cNvSpPr txBox="1"/>
          <p:nvPr/>
        </p:nvSpPr>
        <p:spPr>
          <a:xfrm>
            <a:off x="323889" y="1262199"/>
            <a:ext cx="1148952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1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budget was spent on campaign each year and what is its no. (count) of lead generation for those years.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1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Return on Investment of Campaigns each year.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Return on Investment (ROI) = Revenue from “Launched” opportunities each year / Total campaign cost that year. 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Revenue from “Launched” opp. = Total amount earned from all categories of products each year.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avg. duration of leads at each stage (</a:t>
            </a:r>
            <a:r>
              <a:rPr lang="en-IN" dirty="0">
                <a:solidFill>
                  <a:schemeClr val="dk1"/>
                </a:solidFill>
                <a:latin typeface="Avenir Book" panose="02000503020000020003" pitchFamily="2" charset="0"/>
              </a:rPr>
              <a:t>Unqualified, Qualified, Verification etc.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) ?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are the top 3 lead sources each year and their corresponding revenue realization (Same as revenue from “launched” opp.) ?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avg. no. of POCs and their duration for each account.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top 2 most famous campaign each year and their conversion rate (No. of leads for lead source similar to campaign type).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highest activity for each account, opportunity and lead and their corresponding duration.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activity is performed the most during POC stage of an account.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13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avg. time spent from planning to testing (plan, design, architect, code, unit-test)</a:t>
            </a:r>
          </a:p>
        </p:txBody>
      </p:sp>
    </p:spTree>
    <p:extLst>
      <p:ext uri="{BB962C8B-B14F-4D97-AF65-F5344CB8AC3E}">
        <p14:creationId xmlns:p14="http://schemas.microsoft.com/office/powerpoint/2010/main" val="1644537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69652-D40C-D090-3000-46171885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9937F-406F-D086-65A6-35CF27C24060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Problem Statements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7660F-2357-AD85-AE64-142C40369C17}"/>
              </a:ext>
            </a:extLst>
          </p:cNvPr>
          <p:cNvSpPr txBox="1"/>
          <p:nvPr/>
        </p:nvSpPr>
        <p:spPr>
          <a:xfrm>
            <a:off x="323889" y="1057662"/>
            <a:ext cx="11489527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products (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</a:rPr>
              <a:t>product_category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 is </a:t>
            </a:r>
            <a:r>
              <a:rPr lang="en-IN" sz="1600" dirty="0">
                <a:solidFill>
                  <a:schemeClr val="dk1"/>
                </a:solidFill>
                <a:latin typeface="Avenir Book" panose="02000503020000020003" pitchFamily="2" charset="0"/>
              </a:rPr>
              <a:t>Product or </a:t>
            </a:r>
            <a:r>
              <a:rPr lang="en-IN" sz="1600" dirty="0" err="1">
                <a:solidFill>
                  <a:schemeClr val="dk1"/>
                </a:solidFill>
                <a:latin typeface="Avenir Book" panose="02000503020000020003" pitchFamily="2" charset="0"/>
              </a:rPr>
              <a:t>OnDemandTechnology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) are used the most in design and architecture (activity type = design and architecture) phases.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account industry uses cloud services (</a:t>
            </a:r>
            <a:r>
              <a:rPr lang="en-IN" sz="1600" dirty="0">
                <a:solidFill>
                  <a:schemeClr val="dk1"/>
                </a:solidFill>
                <a:latin typeface="Avenir Book" panose="02000503020000020003" pitchFamily="2" charset="0"/>
              </a:rPr>
              <a:t>'</a:t>
            </a:r>
            <a:r>
              <a:rPr lang="en-IN" sz="1600" dirty="0" err="1">
                <a:solidFill>
                  <a:schemeClr val="dk1"/>
                </a:solidFill>
                <a:latin typeface="Avenir Book" panose="02000503020000020003" pitchFamily="2" charset="0"/>
              </a:rPr>
              <a:t>PaaS','IaaS','SaaS','Serverless</a:t>
            </a:r>
            <a:r>
              <a:rPr lang="en-IN" sz="1600" dirty="0">
                <a:solidFill>
                  <a:schemeClr val="dk1"/>
                </a:solidFill>
                <a:latin typeface="Avenir Book" panose="02000503020000020003" pitchFamily="2" charset="0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) the most.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For each account, what is the total yearly revenue generation as opposed to projected revenue over the years and their corresponding account owners.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product unit SKU type generate highest revenue each year for all launched accounts.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longest running account for each sector and their account owners.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highest, avg. and lowest rating provided by customers per industry.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products (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</a:rPr>
              <a:t>product_name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) have the lowest rating provided by customers.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individual products (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</a:rPr>
              <a:t>product_name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) have the highest support cases each year.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percentage of support cases that have been gone to L4 engineer or Escalated for individual products (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</a:rPr>
              <a:t>product_name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).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distribution of origin of support case across each products.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products have the highest no. of opportunities across sectors.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0"/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Which “service” is used the most across various customer sectors. It is needed for head count or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380335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ppy Birthday Da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B192"/>
      </a:accent1>
      <a:accent2>
        <a:srgbClr val="EAE657"/>
      </a:accent2>
      <a:accent3>
        <a:srgbClr val="FC692E"/>
      </a:accent3>
      <a:accent4>
        <a:srgbClr val="C39A6C"/>
      </a:accent4>
      <a:accent5>
        <a:srgbClr val="F09DF9"/>
      </a:accent5>
      <a:accent6>
        <a:srgbClr val="88D8CF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a:spPr>
      <a:bodyPr rtlCol="0" anchor="ctr"/>
      <a:lstStyle>
        <a:defPPr algn="ctr">
          <a:defRPr dirty="0">
            <a:latin typeface="Avenir Book" panose="02000503020000020003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spcBef>
            <a:spcPts val="600"/>
          </a:spcBef>
          <a:spcAft>
            <a:spcPts val="600"/>
          </a:spcAft>
          <a:defRPr dirty="0" smtClean="0">
            <a:solidFill>
              <a:schemeClr val="bg1"/>
            </a:solidFill>
            <a:latin typeface="Avenir Book" panose="02000503020000020003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89280282_win32_fixed" id="{90CBFA85-09FD-4D3D-81E2-57782BBDE0FB}" vid="{2C3BBF52-29D1-4F7F-9ED4-24D9CCE0A7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5ADAB8-AE6D-478C-98E2-604F0A86DF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82CF8AE-7198-4CD3-A0D5-17C0D766AB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59579B-C32A-42C0-BE36-5304F70301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1751</Words>
  <Application>Microsoft Macintosh PowerPoint</Application>
  <PresentationFormat>Widescreen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</vt:lpstr>
      <vt:lpstr>Avenir Book</vt:lpstr>
      <vt:lpstr>Calibri</vt:lpstr>
      <vt:lpstr>Office Theme</vt:lpstr>
      <vt:lpstr>Project 12  CRM (Customer Relationship Management)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2025-10-21T10:39:15Z</cp:lastPrinted>
  <dcterms:created xsi:type="dcterms:W3CDTF">2022-06-27T23:39:42Z</dcterms:created>
  <dcterms:modified xsi:type="dcterms:W3CDTF">2025-10-21T10:39:19Z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